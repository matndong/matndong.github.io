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7"/>
  </p:notesMasterIdLst>
  <p:sldIdLst>
    <p:sldId id="283" r:id="rId2"/>
    <p:sldId id="284" r:id="rId3"/>
    <p:sldId id="318" r:id="rId4"/>
    <p:sldId id="319" r:id="rId5"/>
    <p:sldId id="312" r:id="rId6"/>
    <p:sldId id="322" r:id="rId7"/>
    <p:sldId id="324" r:id="rId8"/>
    <p:sldId id="325" r:id="rId9"/>
    <p:sldId id="314" r:id="rId10"/>
    <p:sldId id="326" r:id="rId11"/>
    <p:sldId id="328" r:id="rId12"/>
    <p:sldId id="317" r:id="rId13"/>
    <p:sldId id="321" r:id="rId14"/>
    <p:sldId id="320" r:id="rId15"/>
    <p:sldId id="31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2D40"/>
    <a:srgbClr val="6F2C3F"/>
    <a:srgbClr val="0033CC"/>
    <a:srgbClr val="FDFDFD"/>
    <a:srgbClr val="FAFAFA"/>
    <a:srgbClr val="F7F7F7"/>
    <a:srgbClr val="99CCFF"/>
    <a:srgbClr val="FCFCFC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8A9CA0-A17B-A0A6-D7B0-CE8C0BE7146B}" v="23" dt="2020-09-26T22:52:49.814"/>
    <p1510:client id="{2183C947-5CBA-0532-181C-206D93D25DCC}" v="319" dt="2020-09-27T10:57:15.896"/>
    <p1510:client id="{235F8C09-C3D4-E213-DF4A-F9F2F81E19E2}" v="1332" dt="2020-09-27T03:15:54.117"/>
    <p1510:client id="{2A0474B7-8BA0-AF60-1FB0-AB41F324C562}" v="1580" dt="2020-09-27T10:54:36.175"/>
    <p1510:client id="{32E6BFFA-E313-79DE-5602-7C5BEBD6461B}" v="248" dt="2020-09-27T00:31:23.484"/>
    <p1510:client id="{3AE0C146-9219-DAA5-5514-58F183E63C2D}" v="2219" dt="2020-09-27T03:20:21.204"/>
    <p1510:client id="{4418836A-751A-09A2-7883-24B3511F5CD5}" v="1413" dt="2020-09-27T10:56:56.331"/>
    <p1510:client id="{4568ADF3-0282-35EB-FC2D-E0D97C88185F}" v="118" dt="2020-09-27T10:52:36.887"/>
    <p1510:client id="{4994D8C6-AC03-427E-2DBB-62EBD41C8363}" v="1" dt="2020-09-27T12:04:44.986"/>
    <p1510:client id="{4B5145D0-B182-B850-7181-29171A8B9309}" v="42" dt="2020-09-27T10:37:55.267"/>
    <p1510:client id="{5916B0E3-5941-D16F-1B7F-ED8F22BDE2F1}" v="2" dt="2020-09-27T00:07:42.741"/>
    <p1510:client id="{74B4BFDA-9C4B-8291-4760-EDBDA344816F}" v="1736" dt="2020-09-26T21:03:38.572"/>
    <p1510:client id="{88E5FF73-EC1F-B2EF-6471-48AB2F57C70A}" v="2985" dt="2020-09-27T02:56:58.841"/>
    <p1510:client id="{987C238E-D1A0-D488-6EC8-EE34D556DCCE}" v="4" dt="2020-09-26T22:44:38.036"/>
    <p1510:client id="{A482493A-1AF0-105D-C8D5-7F479F352574}" v="97" dt="2020-09-27T10:57:13.540"/>
    <p1510:client id="{C593542A-1E77-58E9-4C03-C3A0D3A2BEF6}" v="1142" dt="2020-09-27T00:13:37.813"/>
    <p1510:client id="{CC056551-CAF3-71BE-F413-A180E2A0F07F}" v="268" dt="2020-09-27T10:55:11.911"/>
    <p1510:client id="{D159C8D2-C189-AA89-2E0B-3D66DFBD0DEB}" v="28" dt="2020-09-27T13:23:39.902"/>
    <p1510:client id="{EFEF76D2-A516-0AB1-B08D-A07D2E3130CE}" v="1066" dt="2020-09-27T04:51:29.1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E7DFCC-2679-4C53-946B-FFD2E8D23F93}" type="datetimeFigureOut">
              <a:rPr lang="en-US"/>
              <a:t>11/9/2020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92054C-04CF-4A89-8CD3-B6A7AC08A86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75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2054C-04CF-4A89-8CD3-B6A7AC08A866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12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2054C-04CF-4A89-8CD3-B6A7AC08A866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53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2054C-04CF-4A89-8CD3-B6A7AC08A86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2962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2054C-04CF-4A89-8CD3-B6A7AC08A86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9950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2054C-04CF-4A89-8CD3-B6A7AC08A866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48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2054C-04CF-4A89-8CD3-B6A7AC08A86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3810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6C69986-22E1-4423-ABD2-44B8164A1A22}" type="datetime1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32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987F-513D-4FA6-AFE7-9BE072EE7E18}" type="datetime1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0DFC-9877-418E-9C7E-C26850463C7D}" type="datetime1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257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1AF2D-4B52-4FBF-8AFB-67E88898EF87}" type="datetime1">
              <a:rPr lang="en-US" smtClean="0"/>
              <a:t>11/9/2020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52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8CED5-0D6E-4C5B-9F07-A62087A907BC}" type="datetime1">
              <a:rPr lang="en-US" smtClean="0"/>
              <a:t>11/9/2020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481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32761-DA2A-4161-9D92-7A8CB30B14C4}" type="datetime1">
              <a:rPr lang="en-US" smtClean="0"/>
              <a:t>11/9/2020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697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1D3B-C148-4C42-AC87-8267455FB8F3}" type="datetime1">
              <a:rPr lang="en-US" smtClean="0"/>
              <a:t>11/9/2020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82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10E49-A68C-4B01-81CA-E789FA77E2DF}" type="datetime1">
              <a:rPr lang="en-US" smtClean="0"/>
              <a:t>11/9/2020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108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53A09-813C-427E-A646-3B94E14E30BD}" type="datetime1">
              <a:rPr lang="en-US" smtClean="0"/>
              <a:t>11/9/2020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7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D0E35-F5FA-49BC-B2AE-9943B1860F12}" type="datetime1">
              <a:rPr lang="en-US" smtClean="0"/>
              <a:t>11/9/2020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74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67E74-E553-4599-8399-90D55DA26B88}" type="datetime1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415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461A4-92F1-4294-BF1E-69DF053560D4}" type="datetime1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530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7031-F82D-4AAA-BB41-6590BBD00C4D}" type="datetime1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06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EC81-89E3-4DD7-B203-2844E164FE76}" type="datetime1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854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03FD8-AA57-4D24-BD28-DDE477C09805}" type="datetime1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774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40234-8FF3-42BB-AF2B-5115999A558A}" type="datetime1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85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396F-29BD-4659-9908-A98902C69A23}" type="datetime1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00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6C94827-56A5-4FB1-938A-F03CC077B8E6}" type="datetime1">
              <a:rPr lang="en-US" smtClean="0"/>
              <a:t>11/9/2020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9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73B1553-1636-4954-B3CD-10A4DE0CA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4B4DFC-38BA-4C07-8028-8FA8327DD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CCAF7D5-2AD8-4BDF-BE92-13524EA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C92429-C2FF-43F8-9F54-FF73D1271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5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8E75E6-FD49-46E3-B23E-9D5C9711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28539"/>
            <a:ext cx="10905066" cy="5600922"/>
          </a:xfrm>
          <a:prstGeom prst="rect">
            <a:avLst/>
          </a:prstGeom>
          <a:solidFill>
            <a:schemeClr val="accent6"/>
          </a:solidFill>
          <a:ln cap="sq">
            <a:noFill/>
            <a:miter lim="800000"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contourClr>
              <a:schemeClr val="accent6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E6BA1-F87F-4073-B5AB-365A42AD3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790956"/>
            <a:ext cx="10579608" cy="527608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5875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0C3ED-F35A-469F-96C5-27C00D61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330" y="793334"/>
            <a:ext cx="9596842" cy="469867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POM 610-631</a:t>
            </a:r>
            <a:r>
              <a:rPr lang="en-US" dirty="0">
                <a:solidFill>
                  <a:srgbClr val="FFFFFF"/>
                </a:solidFill>
              </a:rPr>
              <a:t>:</a:t>
            </a:r>
            <a:br>
              <a:rPr lang="en-US" dirty="0"/>
            </a:br>
            <a:r>
              <a:rPr lang="en-US" u="sng" dirty="0">
                <a:solidFill>
                  <a:srgbClr val="FFFFFF"/>
                </a:solidFill>
              </a:rPr>
              <a:t>Supply Chain Management I</a:t>
            </a:r>
            <a:br>
              <a:rPr lang="en-US" u="sng" dirty="0"/>
            </a:br>
            <a:br>
              <a:rPr lang="en-US" dirty="0"/>
            </a:br>
            <a:r>
              <a:rPr lang="en-US" dirty="0">
                <a:solidFill>
                  <a:srgbClr val="FFFFFF"/>
                </a:solidFill>
              </a:rPr>
              <a:t>Polaris Case Presentation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B678A5-A064-46A6-817F-AE02396CC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5551" y="4769963"/>
            <a:ext cx="130089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3" descr="Text&#10;&#10;Description automatically generated">
            <a:extLst>
              <a:ext uri="{FF2B5EF4-FFF2-40B4-BE49-F238E27FC236}">
                <a16:creationId xmlns:a16="http://schemas.microsoft.com/office/drawing/2014/main" id="{56A7B221-8950-41AF-8221-B7BF7EE501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9201" y="6291333"/>
            <a:ext cx="2009775" cy="504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76061B1-0881-4D8B-8B8F-BC8164A99604}"/>
              </a:ext>
            </a:extLst>
          </p:cNvPr>
          <p:cNvSpPr/>
          <p:nvPr/>
        </p:nvSpPr>
        <p:spPr>
          <a:xfrm>
            <a:off x="5345373" y="4703928"/>
            <a:ext cx="1455761" cy="159220"/>
          </a:xfrm>
          <a:prstGeom prst="rect">
            <a:avLst/>
          </a:prstGeom>
          <a:solidFill>
            <a:srgbClr val="722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33DBAFD-2366-42DF-9979-B258A4A3F938}"/>
              </a:ext>
            </a:extLst>
          </p:cNvPr>
          <p:cNvSpPr txBox="1">
            <a:spLocks/>
          </p:cNvSpPr>
          <p:nvPr/>
        </p:nvSpPr>
        <p:spPr>
          <a:xfrm>
            <a:off x="1274832" y="4960780"/>
            <a:ext cx="9596842" cy="94642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600" dirty="0">
                <a:solidFill>
                  <a:srgbClr val="FFFFFF"/>
                </a:solidFill>
              </a:rPr>
              <a:t>PRESENTED BY: Dong, </a:t>
            </a:r>
            <a:r>
              <a:rPr lang="en-US" sz="1600" dirty="0" err="1">
                <a:solidFill>
                  <a:srgbClr val="FFFFFF"/>
                </a:solidFill>
              </a:rPr>
              <a:t>Yuhan</a:t>
            </a:r>
            <a:r>
              <a:rPr lang="en-US" sz="1600" dirty="0">
                <a:solidFill>
                  <a:srgbClr val="FFFFFF"/>
                </a:solidFill>
              </a:rPr>
              <a:t>; Ndong, Mathieu and Shelly, Henry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6FF1A-EC08-4E98-8BC6-02D9681BC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2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73B1553-1636-4954-B3CD-10A4DE0CA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4B4DFC-38BA-4C07-8028-8FA8327DD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CCAF7D5-2AD8-4BDF-BE92-13524EA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C92429-C2FF-43F8-9F54-FF73D1271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5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8E75E6-FD49-46E3-B23E-9D5C9711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28539"/>
            <a:ext cx="10905066" cy="5600922"/>
          </a:xfrm>
          <a:prstGeom prst="rect">
            <a:avLst/>
          </a:prstGeom>
          <a:solidFill>
            <a:schemeClr val="accent6"/>
          </a:solidFill>
          <a:ln cap="sq">
            <a:noFill/>
            <a:miter lim="800000"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contourClr>
              <a:schemeClr val="accent6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E6BA1-F87F-4073-B5AB-365A42AD3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790956"/>
            <a:ext cx="10579608" cy="527608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5875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0C3ED-F35A-469F-96C5-27C00D61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91" y="1768464"/>
            <a:ext cx="9596842" cy="33192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Global Supply Chain Network</a:t>
            </a: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US Assembly vs Overseas Assembly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B678A5-A064-46A6-817F-AE02396CC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5551" y="4769963"/>
            <a:ext cx="130089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3" descr="Text&#10;&#10;Description automatically generated">
            <a:extLst>
              <a:ext uri="{FF2B5EF4-FFF2-40B4-BE49-F238E27FC236}">
                <a16:creationId xmlns:a16="http://schemas.microsoft.com/office/drawing/2014/main" id="{8293ADD2-B920-44FB-B113-AB0AE1E32A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9201" y="6291333"/>
            <a:ext cx="2009775" cy="504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A4AF7C-8CA4-485D-97F6-F829344B8E21}"/>
              </a:ext>
            </a:extLst>
          </p:cNvPr>
          <p:cNvSpPr/>
          <p:nvPr/>
        </p:nvSpPr>
        <p:spPr>
          <a:xfrm>
            <a:off x="5345373" y="4703928"/>
            <a:ext cx="1455761" cy="159220"/>
          </a:xfrm>
          <a:prstGeom prst="rect">
            <a:avLst/>
          </a:prstGeom>
          <a:solidFill>
            <a:srgbClr val="722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D7E90-C181-47D2-BF2E-52F4433E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4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AAF3B-A1AE-4D12-BD40-4E27B5FFD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Reasons to only assembly in the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AA96B-1634-43BE-818E-2AB921ADD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American Manufacturing </a:t>
            </a:r>
          </a:p>
          <a:p>
            <a:pPr lvl="1"/>
            <a:r>
              <a:rPr lang="en-US" dirty="0"/>
              <a:t>Both customers and employees are proud that the product is manufactured in the United States</a:t>
            </a:r>
          </a:p>
          <a:p>
            <a:r>
              <a:rPr lang="en-US" dirty="0"/>
              <a:t>Supply Chain Visibility</a:t>
            </a:r>
          </a:p>
          <a:p>
            <a:pPr lvl="1"/>
            <a:r>
              <a:rPr lang="en-US" dirty="0"/>
              <a:t>Order communication, production and transportation (fuel price volatility)</a:t>
            </a:r>
          </a:p>
          <a:p>
            <a:r>
              <a:rPr lang="en-US" dirty="0"/>
              <a:t>Product Returns</a:t>
            </a:r>
          </a:p>
          <a:p>
            <a:pPr lvl="1"/>
            <a:r>
              <a:rPr lang="en-US" dirty="0"/>
              <a:t>Quality (State of the Art Injection Molding Plant at Roseau)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39301-F151-4705-B553-F0C0D681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3902" y="5875868"/>
            <a:ext cx="542696" cy="372532"/>
          </a:xfrm>
        </p:spPr>
        <p:txBody>
          <a:bodyPr/>
          <a:lstStyle/>
          <a:p>
            <a:fld id="{5D84065D-F351-4B03-BD91-D8A6B8D4B36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393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AAF3B-A1AE-4D12-BD40-4E27B5FFD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Reasons to only assembly in the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AA96B-1634-43BE-818E-2AB921ADD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Higher Hidden Cost</a:t>
            </a:r>
          </a:p>
          <a:p>
            <a:pPr lvl="1"/>
            <a:r>
              <a:rPr lang="en-US" dirty="0"/>
              <a:t>Managing Exchange Rate Risks</a:t>
            </a:r>
          </a:p>
          <a:p>
            <a:pPr lvl="1"/>
            <a:r>
              <a:rPr lang="en-US" dirty="0"/>
              <a:t>Invoice Errors</a:t>
            </a:r>
          </a:p>
          <a:p>
            <a:r>
              <a:rPr lang="en-US" dirty="0"/>
              <a:t>Tariffs and Taxes</a:t>
            </a:r>
          </a:p>
          <a:p>
            <a:pPr lvl="1"/>
            <a:r>
              <a:rPr lang="en-US" dirty="0"/>
              <a:t>5% production tariffs for China Plant</a:t>
            </a:r>
          </a:p>
          <a:p>
            <a:r>
              <a:rPr lang="en-US" dirty="0"/>
              <a:t>Freight Costs</a:t>
            </a:r>
          </a:p>
          <a:p>
            <a:pPr lvl="1"/>
            <a:r>
              <a:rPr lang="en-US" dirty="0"/>
              <a:t>Transportation modes and quantity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39301-F151-4705-B553-F0C0D681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E299EB-789C-4219-877F-EB62D733F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789" y="2771777"/>
            <a:ext cx="4238368" cy="29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85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73B1553-1636-4954-B3CD-10A4DE0CA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4B4DFC-38BA-4C07-8028-8FA8327DD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CCAF7D5-2AD8-4BDF-BE92-13524EA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C92429-C2FF-43F8-9F54-FF73D1271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5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8E75E6-FD49-46E3-B23E-9D5C9711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28539"/>
            <a:ext cx="10905066" cy="5600922"/>
          </a:xfrm>
          <a:prstGeom prst="rect">
            <a:avLst/>
          </a:prstGeom>
          <a:solidFill>
            <a:schemeClr val="accent6"/>
          </a:solidFill>
          <a:ln cap="sq">
            <a:noFill/>
            <a:miter lim="800000"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contourClr>
              <a:schemeClr val="accent6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E6BA1-F87F-4073-B5AB-365A42AD3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790956"/>
            <a:ext cx="10579608" cy="527608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5875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B678A5-A064-46A6-817F-AE02396CC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5551" y="4769963"/>
            <a:ext cx="130089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3" descr="Text&#10;&#10;Description automatically generated">
            <a:extLst>
              <a:ext uri="{FF2B5EF4-FFF2-40B4-BE49-F238E27FC236}">
                <a16:creationId xmlns:a16="http://schemas.microsoft.com/office/drawing/2014/main" id="{8293ADD2-B920-44FB-B113-AB0AE1E32A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9201" y="6291333"/>
            <a:ext cx="2009775" cy="504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A4AF7C-8CA4-485D-97F6-F829344B8E21}"/>
              </a:ext>
            </a:extLst>
          </p:cNvPr>
          <p:cNvSpPr/>
          <p:nvPr/>
        </p:nvSpPr>
        <p:spPr>
          <a:xfrm>
            <a:off x="5345373" y="4703928"/>
            <a:ext cx="1455761" cy="159220"/>
          </a:xfrm>
          <a:prstGeom prst="rect">
            <a:avLst/>
          </a:prstGeom>
          <a:solidFill>
            <a:srgbClr val="722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0C3ED-F35A-469F-96C5-27C00D61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81" y="1768464"/>
            <a:ext cx="9694144" cy="33192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NPV Calculations</a:t>
            </a: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US vs Mexico vs China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C7F1F-08B2-4A7F-A949-F33BD772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51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DFEAA79-178D-4A54-AC83-6AC1132C2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BBC560D-95F6-426C-804F-FB9DD32AB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1666D96-F6CD-4BAF-85D6-4762576F1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C2DAF3B-CC81-44E6-AFB5-6592EEEC2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AAAF3B-A1AE-4D12-BD40-4E27B5FFD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924" y="1773116"/>
            <a:ext cx="4929848" cy="165499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u="sng" dirty="0"/>
              <a:t>NPV Calculation</a:t>
            </a:r>
            <a:r>
              <a:rPr lang="en-US" sz="5400" dirty="0"/>
              <a:t>:</a:t>
            </a:r>
            <a:br>
              <a:rPr lang="en-US" sz="5400" dirty="0"/>
            </a:br>
            <a:r>
              <a:rPr lang="en-US" sz="5400" dirty="0"/>
              <a:t>U.S. Plant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073ACC0-973B-4453-BFF7-43B5B10AF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10768" y="3522131"/>
            <a:ext cx="6035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57DB6F76-05D3-4321-AAC0-F7699416C2C2}"/>
              </a:ext>
            </a:extLst>
          </p:cNvPr>
          <p:cNvPicPr/>
          <p:nvPr/>
        </p:nvPicPr>
        <p:blipFill rotWithShape="1">
          <a:blip r:embed="rId5"/>
          <a:srcRect l="67110" t="50260" r="11005" b="41092"/>
          <a:stretch/>
        </p:blipFill>
        <p:spPr bwMode="auto">
          <a:xfrm>
            <a:off x="830784" y="4051634"/>
            <a:ext cx="10610045" cy="1548435"/>
          </a:xfrm>
          <a:prstGeom prst="rect">
            <a:avLst/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39301-F151-4705-B553-F0C0D681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1008" y="5938374"/>
            <a:ext cx="551167" cy="27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5D84065D-F351-4B03-BD91-D8A6B8D4B362}" type="slidenum">
              <a:rPr lang="en-US" smtClean="0"/>
              <a:pPr defTabSz="457200"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B8C235A-68CD-4D33-BB05-91DFD7935ED8}"/>
              </a:ext>
            </a:extLst>
          </p:cNvPr>
          <p:cNvSpPr txBox="1">
            <a:spLocks/>
          </p:cNvSpPr>
          <p:nvPr/>
        </p:nvSpPr>
        <p:spPr>
          <a:xfrm>
            <a:off x="6535435" y="3497454"/>
            <a:ext cx="4957361" cy="2912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200" b="1" u="sng" dirty="0">
                <a:cs typeface="Calibri Light"/>
              </a:rPr>
              <a:t>ABOVE</a:t>
            </a:r>
            <a:r>
              <a:rPr lang="en-US" sz="1200" dirty="0">
                <a:cs typeface="Calibri Light"/>
              </a:rPr>
              <a:t>: US Plant; NPV Calculations ($53,058,088.51) for Years 2010 – 2015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79688B7-6F52-4292-88E5-EA8EF9C91451}"/>
              </a:ext>
            </a:extLst>
          </p:cNvPr>
          <p:cNvSpPr txBox="1">
            <a:spLocks/>
          </p:cNvSpPr>
          <p:nvPr/>
        </p:nvSpPr>
        <p:spPr>
          <a:xfrm>
            <a:off x="3248848" y="5644618"/>
            <a:ext cx="5691127" cy="2912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200" b="1" u="sng" dirty="0">
                <a:cs typeface="Calibri Light"/>
              </a:rPr>
              <a:t>ABOVE</a:t>
            </a:r>
            <a:r>
              <a:rPr lang="en-US" sz="1200" dirty="0">
                <a:cs typeface="Calibri Light"/>
              </a:rPr>
              <a:t>: US Plant; Projected Production, Labor, and Transportation Costs for 2010 – 2015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FBBECCE-6816-4FBE-8C09-AB6D4F35631E}"/>
              </a:ext>
            </a:extLst>
          </p:cNvPr>
          <p:cNvPicPr/>
          <p:nvPr/>
        </p:nvPicPr>
        <p:blipFill rotWithShape="1">
          <a:blip r:embed="rId6"/>
          <a:srcRect l="69532" t="46613" r="21211" b="44559"/>
          <a:stretch/>
        </p:blipFill>
        <p:spPr bwMode="auto">
          <a:xfrm>
            <a:off x="6577203" y="1901613"/>
            <a:ext cx="4863626" cy="1577808"/>
          </a:xfrm>
          <a:prstGeom prst="rect">
            <a:avLst/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Picture 6" descr="USA flag Royalty Free Vector Image - VectorStock">
            <a:extLst>
              <a:ext uri="{FF2B5EF4-FFF2-40B4-BE49-F238E27FC236}">
                <a16:creationId xmlns:a16="http://schemas.microsoft.com/office/drawing/2014/main" id="{C97A6771-27B1-4627-A554-2ED7D5D1F1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02" b="9922"/>
          <a:stretch/>
        </p:blipFill>
        <p:spPr bwMode="auto">
          <a:xfrm>
            <a:off x="2778512" y="1364371"/>
            <a:ext cx="940671" cy="53724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036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39301-F151-4705-B553-F0C0D681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AAF3B-A1AE-4D12-BD40-4E27B5FFD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110" y="1071592"/>
            <a:ext cx="5391419" cy="1303867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NPV Calculation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Mexico Plant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D9DF68-33E7-46CA-B1F6-8AE2FD341F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72" t="1074" r="1583" b="18602"/>
          <a:stretch/>
        </p:blipFill>
        <p:spPr>
          <a:xfrm>
            <a:off x="6818201" y="121982"/>
            <a:ext cx="5246628" cy="6642196"/>
          </a:xfrm>
          <a:prstGeom prst="rect">
            <a:avLst/>
          </a:prstGeom>
          <a:ln w="63500">
            <a:solidFill>
              <a:schemeClr val="bg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1513DF-F7EB-4539-AE97-D8CF21AD50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0" t="91119" r="70063" b="1359"/>
          <a:stretch/>
        </p:blipFill>
        <p:spPr>
          <a:xfrm>
            <a:off x="2137571" y="4467414"/>
            <a:ext cx="3054958" cy="12539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F44E11-C7F3-448E-B0CD-64850B7D4FBA}"/>
              </a:ext>
            </a:extLst>
          </p:cNvPr>
          <p:cNvPicPr/>
          <p:nvPr/>
        </p:nvPicPr>
        <p:blipFill rotWithShape="1">
          <a:blip r:embed="rId4"/>
          <a:srcRect l="3081" t="36525" r="75503" b="49684"/>
          <a:stretch/>
        </p:blipFill>
        <p:spPr bwMode="auto">
          <a:xfrm>
            <a:off x="735827" y="2439653"/>
            <a:ext cx="5885988" cy="1431068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E573C9C-C869-461A-959C-F352CAFECB8D}"/>
              </a:ext>
            </a:extLst>
          </p:cNvPr>
          <p:cNvSpPr txBox="1">
            <a:spLocks/>
          </p:cNvSpPr>
          <p:nvPr/>
        </p:nvSpPr>
        <p:spPr>
          <a:xfrm>
            <a:off x="683404" y="3870719"/>
            <a:ext cx="5938411" cy="2912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200" b="1" u="sng" dirty="0">
                <a:cs typeface="Calibri Light"/>
              </a:rPr>
              <a:t>ABOVE</a:t>
            </a:r>
            <a:r>
              <a:rPr lang="en-US" sz="1200" dirty="0">
                <a:cs typeface="Calibri Light"/>
              </a:rPr>
              <a:t>: Mexico Plant; Projected Production, Labor, and Transportation Costs for 2010 – 2015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92117E9-85B4-4D6B-B0FD-3369800633F0}"/>
              </a:ext>
            </a:extLst>
          </p:cNvPr>
          <p:cNvSpPr txBox="1">
            <a:spLocks/>
          </p:cNvSpPr>
          <p:nvPr/>
        </p:nvSpPr>
        <p:spPr>
          <a:xfrm>
            <a:off x="651454" y="5786408"/>
            <a:ext cx="5938411" cy="2912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200" b="1" u="sng" dirty="0">
                <a:cs typeface="Calibri Light"/>
              </a:rPr>
              <a:t>ABOVE</a:t>
            </a:r>
            <a:r>
              <a:rPr lang="en-US" sz="1200" dirty="0">
                <a:cs typeface="Calibri Light"/>
              </a:rPr>
              <a:t>: Mexico Plant; NPV Calculations ($38,896,893.25) for Years 2010 – 2015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26B33D-48D7-438B-BD29-4F014AB5E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444" y="599355"/>
            <a:ext cx="940671" cy="53724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673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39301-F151-4705-B553-F0C0D681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AAF3B-A1AE-4D12-BD40-4E27B5FFD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11" y="1071592"/>
            <a:ext cx="5391419" cy="1303867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NPV Calculation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China Plant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573C9C-C869-461A-959C-F352CAFECB8D}"/>
              </a:ext>
            </a:extLst>
          </p:cNvPr>
          <p:cNvSpPr txBox="1">
            <a:spLocks/>
          </p:cNvSpPr>
          <p:nvPr/>
        </p:nvSpPr>
        <p:spPr>
          <a:xfrm>
            <a:off x="702051" y="4130308"/>
            <a:ext cx="6422468" cy="2912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200" b="1" u="sng" dirty="0">
                <a:cs typeface="Calibri Light"/>
              </a:rPr>
              <a:t>ABOVE</a:t>
            </a:r>
            <a:r>
              <a:rPr lang="en-US" sz="1200" dirty="0">
                <a:cs typeface="Calibri Light"/>
              </a:rPr>
              <a:t>: China Plant; Projected Production, Labor, and Transportation Costs for 2010 – 2015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92117E9-85B4-4D6B-B0FD-3369800633F0}"/>
              </a:ext>
            </a:extLst>
          </p:cNvPr>
          <p:cNvSpPr txBox="1">
            <a:spLocks/>
          </p:cNvSpPr>
          <p:nvPr/>
        </p:nvSpPr>
        <p:spPr>
          <a:xfrm>
            <a:off x="693416" y="5743582"/>
            <a:ext cx="5938411" cy="2912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200" b="1" u="sng" dirty="0">
                <a:cs typeface="Calibri Light"/>
              </a:rPr>
              <a:t>ABOVE</a:t>
            </a:r>
            <a:r>
              <a:rPr lang="en-US" sz="1200" dirty="0">
                <a:cs typeface="Calibri Light"/>
              </a:rPr>
              <a:t>: China Plant; NPV Calculations ($40,413,191.25) for Years 2010 – 2015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448A30-354A-4FF6-8E22-3DD67A864712}"/>
              </a:ext>
            </a:extLst>
          </p:cNvPr>
          <p:cNvPicPr/>
          <p:nvPr/>
        </p:nvPicPr>
        <p:blipFill rotWithShape="1">
          <a:blip r:embed="rId3"/>
          <a:srcRect l="4025" t="30280" r="64845" b="48735"/>
          <a:stretch/>
        </p:blipFill>
        <p:spPr bwMode="auto">
          <a:xfrm>
            <a:off x="735827" y="2448318"/>
            <a:ext cx="6388692" cy="1651696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38CA9A-A40B-4B5F-BFA9-CCB7EFA2DFBD}"/>
              </a:ext>
            </a:extLst>
          </p:cNvPr>
          <p:cNvPicPr/>
          <p:nvPr/>
        </p:nvPicPr>
        <p:blipFill rotWithShape="1">
          <a:blip r:embed="rId4"/>
          <a:srcRect l="22875" t="26462" r="62087" b="17069"/>
          <a:stretch/>
        </p:blipFill>
        <p:spPr bwMode="auto">
          <a:xfrm>
            <a:off x="7293619" y="116247"/>
            <a:ext cx="4758350" cy="6625506"/>
          </a:xfrm>
          <a:prstGeom prst="rect">
            <a:avLst/>
          </a:prstGeom>
          <a:ln w="635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776FAC-1F26-4679-A883-EC21FE2BC4EF}"/>
              </a:ext>
            </a:extLst>
          </p:cNvPr>
          <p:cNvPicPr/>
          <p:nvPr/>
        </p:nvPicPr>
        <p:blipFill rotWithShape="1">
          <a:blip r:embed="rId4"/>
          <a:srcRect l="22937" t="86209" r="72639" b="9727"/>
          <a:stretch/>
        </p:blipFill>
        <p:spPr bwMode="auto">
          <a:xfrm>
            <a:off x="2145156" y="4669426"/>
            <a:ext cx="3034932" cy="1050890"/>
          </a:xfrm>
          <a:prstGeom prst="rect">
            <a:avLst/>
          </a:prstGeom>
          <a:ln w="190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4" descr="Flag of China | Britannica">
            <a:extLst>
              <a:ext uri="{FF2B5EF4-FFF2-40B4-BE49-F238E27FC236}">
                <a16:creationId xmlns:a16="http://schemas.microsoft.com/office/drawing/2014/main" id="{A61C3A1A-DFD8-441D-A705-1AE369C61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444" y="599356"/>
            <a:ext cx="940671" cy="537241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1165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73B1553-1636-4954-B3CD-10A4DE0CA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4B4DFC-38BA-4C07-8028-8FA8327DD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CCAF7D5-2AD8-4BDF-BE92-13524EA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C92429-C2FF-43F8-9F54-FF73D1271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5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8E75E6-FD49-46E3-B23E-9D5C9711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28539"/>
            <a:ext cx="10905066" cy="5600922"/>
          </a:xfrm>
          <a:prstGeom prst="rect">
            <a:avLst/>
          </a:prstGeom>
          <a:solidFill>
            <a:schemeClr val="accent6"/>
          </a:solidFill>
          <a:ln cap="sq">
            <a:noFill/>
            <a:miter lim="800000"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contourClr>
              <a:schemeClr val="accent6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E6BA1-F87F-4073-B5AB-365A42AD3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790956"/>
            <a:ext cx="10579608" cy="527608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5875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B678A5-A064-46A6-817F-AE02396CC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5551" y="4769963"/>
            <a:ext cx="130089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3" descr="Text&#10;&#10;Description automatically generated">
            <a:extLst>
              <a:ext uri="{FF2B5EF4-FFF2-40B4-BE49-F238E27FC236}">
                <a16:creationId xmlns:a16="http://schemas.microsoft.com/office/drawing/2014/main" id="{8293ADD2-B920-44FB-B113-AB0AE1E32A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9201" y="6291333"/>
            <a:ext cx="2009775" cy="504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A4AF7C-8CA4-485D-97F6-F829344B8E21}"/>
              </a:ext>
            </a:extLst>
          </p:cNvPr>
          <p:cNvSpPr/>
          <p:nvPr/>
        </p:nvSpPr>
        <p:spPr>
          <a:xfrm>
            <a:off x="5345373" y="4703928"/>
            <a:ext cx="1455761" cy="159220"/>
          </a:xfrm>
          <a:prstGeom prst="rect">
            <a:avLst/>
          </a:prstGeom>
          <a:solidFill>
            <a:srgbClr val="722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0C3ED-F35A-469F-96C5-27C00D61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229" y="1582990"/>
            <a:ext cx="9596842" cy="38782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 err="1">
                <a:solidFill>
                  <a:srgbClr val="FFFFFF"/>
                </a:solidFill>
              </a:rPr>
              <a:t>Sensivity</a:t>
            </a:r>
            <a:r>
              <a:rPr lang="en-US" sz="5400" dirty="0">
                <a:solidFill>
                  <a:srgbClr val="FFFFFF"/>
                </a:solidFill>
              </a:rPr>
              <a:t> Analysis</a:t>
            </a: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Mexico vs China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CB5E8-297D-47EB-B158-39F1B36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582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39301-F151-4705-B553-F0C0D681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AAF3B-A1AE-4D12-BD40-4E27B5FFD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110" y="1071592"/>
            <a:ext cx="9926488" cy="1303867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Sensitivity Analysis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Mexico Plant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26B33D-48D7-438B-BD29-4F014AB5E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018" y="625937"/>
            <a:ext cx="940671" cy="537242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585744-A737-4199-8E13-F1BA264BA5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096" t="38201" r="56196" b="40465"/>
          <a:stretch/>
        </p:blipFill>
        <p:spPr>
          <a:xfrm>
            <a:off x="944834" y="2900016"/>
            <a:ext cx="10302331" cy="2599427"/>
          </a:xfrm>
          <a:prstGeom prst="rect">
            <a:avLst/>
          </a:prstGeom>
          <a:ln w="6350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303750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39301-F151-4705-B553-F0C0D681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AAF3B-A1AE-4D12-BD40-4E27B5FFD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110" y="1071592"/>
            <a:ext cx="9926488" cy="1303867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Sensitivity Analysis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China Plant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573C9C-C869-461A-959C-F352CAFECB8D}"/>
              </a:ext>
            </a:extLst>
          </p:cNvPr>
          <p:cNvSpPr txBox="1">
            <a:spLocks/>
          </p:cNvSpPr>
          <p:nvPr/>
        </p:nvSpPr>
        <p:spPr>
          <a:xfrm>
            <a:off x="3434483" y="6353421"/>
            <a:ext cx="5938411" cy="2912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200" b="1" u="sng" dirty="0">
                <a:cs typeface="Calibri Light"/>
              </a:rPr>
              <a:t>ABOVE</a:t>
            </a:r>
            <a:r>
              <a:rPr lang="en-US" sz="1200" dirty="0">
                <a:cs typeface="Calibri Light"/>
              </a:rPr>
              <a:t>: Mexico Plant; Projected Production, Labor, and Transportation Costs for 2010 – 2015</a:t>
            </a:r>
          </a:p>
        </p:txBody>
      </p:sp>
      <p:pic>
        <p:nvPicPr>
          <p:cNvPr id="5" name="Picture 4" descr="Flag of China | Britannica">
            <a:extLst>
              <a:ext uri="{FF2B5EF4-FFF2-40B4-BE49-F238E27FC236}">
                <a16:creationId xmlns:a16="http://schemas.microsoft.com/office/drawing/2014/main" id="{902B1CF8-1272-49EE-BF25-A0F4CE46C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018" y="665831"/>
            <a:ext cx="940671" cy="537241"/>
          </a:xfrm>
          <a:prstGeom prst="rect">
            <a:avLst/>
          </a:prstGeom>
          <a:noFill/>
          <a:ln w="19050">
            <a:solidFill>
              <a:schemeClr val="bg1">
                <a:lumMod val="9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486DA6-38CB-4F77-81A6-32A33E6BDD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516" t="62492" r="44531" b="16178"/>
          <a:stretch/>
        </p:blipFill>
        <p:spPr>
          <a:xfrm>
            <a:off x="944834" y="2884068"/>
            <a:ext cx="10341626" cy="2672408"/>
          </a:xfrm>
          <a:prstGeom prst="rect">
            <a:avLst/>
          </a:prstGeom>
          <a:ln w="6350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37930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73B1553-1636-4954-B3CD-10A4DE0CA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4B4DFC-38BA-4C07-8028-8FA8327DD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CCAF7D5-2AD8-4BDF-BE92-13524EA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C92429-C2FF-43F8-9F54-FF73D1271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5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8E75E6-FD49-46E3-B23E-9D5C9711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28539"/>
            <a:ext cx="10905066" cy="5600922"/>
          </a:xfrm>
          <a:prstGeom prst="rect">
            <a:avLst/>
          </a:prstGeom>
          <a:solidFill>
            <a:schemeClr val="accent6"/>
          </a:solidFill>
          <a:ln cap="sq">
            <a:noFill/>
            <a:miter lim="800000"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contourClr>
              <a:schemeClr val="accent6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E6BA1-F87F-4073-B5AB-365A42AD3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790956"/>
            <a:ext cx="10579608" cy="527608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5875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0C3ED-F35A-469F-96C5-27C00D61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991" y="1768464"/>
            <a:ext cx="9596842" cy="33192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Manufacturing Location Decision</a:t>
            </a: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5400" dirty="0">
                <a:solidFill>
                  <a:srgbClr val="FFFFFF"/>
                </a:solidFill>
              </a:rPr>
              <a:t>(</a:t>
            </a:r>
            <a:r>
              <a:rPr lang="en-US" sz="4000" dirty="0">
                <a:solidFill>
                  <a:srgbClr val="FFFFFF"/>
                </a:solidFill>
              </a:rPr>
              <a:t>Beside cost)</a:t>
            </a:r>
            <a:endParaRPr lang="en-US" sz="5400" dirty="0">
              <a:solidFill>
                <a:srgbClr val="FFFFFF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B678A5-A064-46A6-817F-AE02396CC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5551" y="4769963"/>
            <a:ext cx="130089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3" descr="Text&#10;&#10;Description automatically generated">
            <a:extLst>
              <a:ext uri="{FF2B5EF4-FFF2-40B4-BE49-F238E27FC236}">
                <a16:creationId xmlns:a16="http://schemas.microsoft.com/office/drawing/2014/main" id="{8293ADD2-B920-44FB-B113-AB0AE1E32A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9201" y="6291333"/>
            <a:ext cx="2009775" cy="504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A4AF7C-8CA4-485D-97F6-F829344B8E21}"/>
              </a:ext>
            </a:extLst>
          </p:cNvPr>
          <p:cNvSpPr/>
          <p:nvPr/>
        </p:nvSpPr>
        <p:spPr>
          <a:xfrm>
            <a:off x="5345373" y="4703928"/>
            <a:ext cx="1455761" cy="159220"/>
          </a:xfrm>
          <a:prstGeom prst="rect">
            <a:avLst/>
          </a:prstGeom>
          <a:solidFill>
            <a:srgbClr val="722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D7E90-C181-47D2-BF2E-52F4433E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28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9B894CA-E1CC-47A1-8DE3-57DBCFD39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FE02C9-604F-4736-B42D-57E1DB148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825" y="982132"/>
            <a:ext cx="3991452" cy="1333051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100" b="1" dirty="0"/>
              <a:t>Responsiveness of the Supply Chain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DF82D0-142E-415E-9F4C-DD5E34D80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9B7433-B959-40DA-806F-FF95BB380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6FC943-1D1F-47ED-A03A-0904F130C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824" y="2556931"/>
            <a:ext cx="3757989" cy="352668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Procurement Risk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Exchange rate risk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Significant part of the business dependent of a single external source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Systems Risk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Information System Failure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Disruptions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Covid 19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B332E-08B1-4C07-A25F-C4BCA8F6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D84065D-F351-4B03-BD91-D8A6B8D4B362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10D1FA-AECB-48F9-9322-4FF724F0D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783" y="1634065"/>
            <a:ext cx="5240029" cy="363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134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9B894CA-E1CC-47A1-8DE3-57DBCFD39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FE02C9-604F-4736-B42D-57E1DB148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919" y="982133"/>
            <a:ext cx="4951379" cy="13330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b="1" dirty="0"/>
              <a:t>Flexibility of the Supply Chain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DF82D0-142E-415E-9F4C-DD5E34D80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98ED54-D713-485F-9E3F-C0FC88F7A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683" y="1753157"/>
            <a:ext cx="5278777" cy="317288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9B7433-B959-40DA-806F-FF95BB380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6FC943-1D1F-47ED-A03A-0904F130C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824" y="2556931"/>
            <a:ext cx="3757989" cy="352668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Receivable Risk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Customer quantity (change in demand)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Capacity Risk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Cost of Capacity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Capacity Flexibility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Forecast Risk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Incorrect forecast(production delays)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B332E-08B1-4C07-A25F-C4BCA8F6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D84065D-F351-4B03-BD91-D8A6B8D4B362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124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73B1553-1636-4954-B3CD-10A4DE0CA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4B4DFC-38BA-4C07-8028-8FA8327DD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CCAF7D5-2AD8-4BDF-BE92-13524EA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C92429-C2FF-43F8-9F54-FF73D1271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5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8E75E6-FD49-46E3-B23E-9D5C9711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28539"/>
            <a:ext cx="10905066" cy="5600922"/>
          </a:xfrm>
          <a:prstGeom prst="rect">
            <a:avLst/>
          </a:prstGeom>
          <a:solidFill>
            <a:schemeClr val="accent6"/>
          </a:solidFill>
          <a:ln cap="sq">
            <a:noFill/>
            <a:miter lim="800000"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contourClr>
              <a:schemeClr val="accent6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E6BA1-F87F-4073-B5AB-365A42AD3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790956"/>
            <a:ext cx="10579608" cy="527608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5875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B678A5-A064-46A6-817F-AE02396CC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5551" y="4769963"/>
            <a:ext cx="130089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3" descr="Text&#10;&#10;Description automatically generated">
            <a:extLst>
              <a:ext uri="{FF2B5EF4-FFF2-40B4-BE49-F238E27FC236}">
                <a16:creationId xmlns:a16="http://schemas.microsoft.com/office/drawing/2014/main" id="{8293ADD2-B920-44FB-B113-AB0AE1E32A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9201" y="6291333"/>
            <a:ext cx="2009775" cy="5048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A4AF7C-8CA4-485D-97F6-F829344B8E21}"/>
              </a:ext>
            </a:extLst>
          </p:cNvPr>
          <p:cNvSpPr/>
          <p:nvPr/>
        </p:nvSpPr>
        <p:spPr>
          <a:xfrm>
            <a:off x="5345373" y="4703928"/>
            <a:ext cx="1455761" cy="159220"/>
          </a:xfrm>
          <a:prstGeom prst="rect">
            <a:avLst/>
          </a:prstGeom>
          <a:solidFill>
            <a:srgbClr val="722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pic>
        <p:nvPicPr>
          <p:cNvPr id="5" name="Picture 2" descr="Any Questions?">
            <a:extLst>
              <a:ext uri="{FF2B5EF4-FFF2-40B4-BE49-F238E27FC236}">
                <a16:creationId xmlns:a16="http://schemas.microsoft.com/office/drawing/2014/main" id="{0776BBD9-A431-4CF2-AC24-80C386FB5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71" y="932600"/>
            <a:ext cx="10262082" cy="499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A0662-BBB1-401C-90FB-9F3EC26D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9138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369</Words>
  <Application>Microsoft Office PowerPoint</Application>
  <PresentationFormat>Widescreen</PresentationFormat>
  <Paragraphs>70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Garamond</vt:lpstr>
      <vt:lpstr>Organic</vt:lpstr>
      <vt:lpstr>POM 610-631: Supply Chain Management I  Polaris Case Presentation</vt:lpstr>
      <vt:lpstr>Global Supply Chain Network US Assembly vs Overseas Assembly</vt:lpstr>
      <vt:lpstr>Reasons to only assembly in the US</vt:lpstr>
      <vt:lpstr>Reasons to only assembly in the US</vt:lpstr>
      <vt:lpstr>NPV Calculations US vs Mexico vs China</vt:lpstr>
      <vt:lpstr>NPV Calculation: U.S. Plant</vt:lpstr>
      <vt:lpstr>NPV Calculation: Mexico Plant</vt:lpstr>
      <vt:lpstr>NPV Calculation: China Plant</vt:lpstr>
      <vt:lpstr>Sensivity Analysis Mexico vs China</vt:lpstr>
      <vt:lpstr>Sensitivity Analysis: Mexico Plant</vt:lpstr>
      <vt:lpstr>Sensitivity Analysis: China Plant</vt:lpstr>
      <vt:lpstr>Manufacturing Location Decision (Beside cost)</vt:lpstr>
      <vt:lpstr>Responsiveness of the Supply Chain</vt:lpstr>
      <vt:lpstr>Flexibility of the Supply Chain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POM 610-631: Supply Chain Management I  Polaris Case Presentation</dc:title>
  <dc:creator>Henry Shelly</dc:creator>
  <cp:lastModifiedBy>Ndong,Mathieu</cp:lastModifiedBy>
  <cp:revision>8</cp:revision>
  <dcterms:created xsi:type="dcterms:W3CDTF">2020-11-09T20:40:21Z</dcterms:created>
  <dcterms:modified xsi:type="dcterms:W3CDTF">2020-11-09T22:28:47Z</dcterms:modified>
</cp:coreProperties>
</file>