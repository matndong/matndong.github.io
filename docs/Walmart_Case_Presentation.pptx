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24"/>
  </p:notesMasterIdLst>
  <p:sldIdLst>
    <p:sldId id="283" r:id="rId2"/>
    <p:sldId id="284" r:id="rId3"/>
    <p:sldId id="263" r:id="rId4"/>
    <p:sldId id="316" r:id="rId5"/>
    <p:sldId id="317" r:id="rId6"/>
    <p:sldId id="318" r:id="rId7"/>
    <p:sldId id="319" r:id="rId8"/>
    <p:sldId id="320" r:id="rId9"/>
    <p:sldId id="321" r:id="rId10"/>
    <p:sldId id="312" r:id="rId11"/>
    <p:sldId id="257" r:id="rId12"/>
    <p:sldId id="308" r:id="rId13"/>
    <p:sldId id="309" r:id="rId14"/>
    <p:sldId id="310" r:id="rId15"/>
    <p:sldId id="314" r:id="rId16"/>
    <p:sldId id="322" r:id="rId17"/>
    <p:sldId id="323" r:id="rId18"/>
    <p:sldId id="324" r:id="rId19"/>
    <p:sldId id="325" r:id="rId20"/>
    <p:sldId id="326" r:id="rId21"/>
    <p:sldId id="327" r:id="rId22"/>
    <p:sldId id="31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22D40"/>
    <a:srgbClr val="6F2C3F"/>
    <a:srgbClr val="0033CC"/>
    <a:srgbClr val="FDFDFD"/>
    <a:srgbClr val="FAFAFA"/>
    <a:srgbClr val="F7F7F7"/>
    <a:srgbClr val="99CCFF"/>
    <a:srgbClr val="FCFCFC"/>
    <a:srgbClr val="F9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8A9CA0-A17B-A0A6-D7B0-CE8C0BE7146B}" v="23" dt="2020-09-26T22:52:49.814"/>
    <p1510:client id="{2183C947-5CBA-0532-181C-206D93D25DCC}" v="319" dt="2020-09-27T10:57:15.896"/>
    <p1510:client id="{235F8C09-C3D4-E213-DF4A-F9F2F81E19E2}" v="1332" dt="2020-09-27T03:15:54.117"/>
    <p1510:client id="{2A0474B7-8BA0-AF60-1FB0-AB41F324C562}" v="1580" dt="2020-09-27T10:54:36.175"/>
    <p1510:client id="{32E6BFFA-E313-79DE-5602-7C5BEBD6461B}" v="248" dt="2020-09-27T00:31:23.484"/>
    <p1510:client id="{3AE0C146-9219-DAA5-5514-58F183E63C2D}" v="2219" dt="2020-09-27T03:20:21.204"/>
    <p1510:client id="{4418836A-751A-09A2-7883-24B3511F5CD5}" v="1413" dt="2020-09-27T10:56:56.331"/>
    <p1510:client id="{4568ADF3-0282-35EB-FC2D-E0D97C88185F}" v="118" dt="2020-09-27T10:52:36.887"/>
    <p1510:client id="{4994D8C6-AC03-427E-2DBB-62EBD41C8363}" v="1" dt="2020-09-27T12:04:44.986"/>
    <p1510:client id="{4B5145D0-B182-B850-7181-29171A8B9309}" v="42" dt="2020-09-27T10:37:55.267"/>
    <p1510:client id="{5916B0E3-5941-D16F-1B7F-ED8F22BDE2F1}" v="2" dt="2020-09-27T00:07:42.741"/>
    <p1510:client id="{74B4BFDA-9C4B-8291-4760-EDBDA344816F}" v="1736" dt="2020-09-26T21:03:38.572"/>
    <p1510:client id="{88E5FF73-EC1F-B2EF-6471-48AB2F57C70A}" v="2985" dt="2020-09-27T02:56:58.841"/>
    <p1510:client id="{987C238E-D1A0-D488-6EC8-EE34D556DCCE}" v="4" dt="2020-09-26T22:44:38.036"/>
    <p1510:client id="{A482493A-1AF0-105D-C8D5-7F479F352574}" v="97" dt="2020-09-27T10:57:13.540"/>
    <p1510:client id="{C593542A-1E77-58E9-4C03-C3A0D3A2BEF6}" v="1142" dt="2020-09-27T00:13:37.813"/>
    <p1510:client id="{CC056551-CAF3-71BE-F413-A180E2A0F07F}" v="268" dt="2020-09-27T10:55:11.911"/>
    <p1510:client id="{D159C8D2-C189-AA89-2E0B-3D66DFBD0DEB}" v="28" dt="2020-09-27T13:23:39.902"/>
    <p1510:client id="{EFEF76D2-A516-0AB1-B08D-A07D2E3130CE}" v="1066" dt="2020-09-27T04:51:29.1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esktop\DataAnalysis_WalmartCase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sng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b="1" u="sng" dirty="0"/>
              <a:t>Inventory</a:t>
            </a:r>
            <a:r>
              <a:rPr lang="en-US" sz="1600" b="1" u="sng" baseline="0" dirty="0"/>
              <a:t> Turnover (INVT)</a:t>
            </a:r>
            <a:endParaRPr lang="en-US" sz="1600" b="1" u="sng" dirty="0"/>
          </a:p>
        </c:rich>
      </c:tx>
      <c:layout>
        <c:manualLayout>
          <c:xMode val="edge"/>
          <c:yMode val="edge"/>
          <c:x val="0.30107843137254903"/>
          <c:y val="1.19227928751142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sng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'FinalTables and Graphs'!$D$15</c:f>
              <c:strCache>
                <c:ptCount val="1"/>
                <c:pt idx="0">
                  <c:v>Walmart</c:v>
                </c:pt>
              </c:strCache>
            </c:strRef>
          </c:tx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rgbClr val="00B0F0"/>
                </a:solidFill>
              </a:ln>
              <a:effectLst/>
            </c:spPr>
          </c:marker>
          <c:val>
            <c:numRef>
              <c:f>'FinalTables and Graphs'!$D$16:$D$20</c:f>
              <c:numCache>
                <c:formatCode>General</c:formatCode>
                <c:ptCount val="5"/>
                <c:pt idx="0">
                  <c:v>53.9</c:v>
                </c:pt>
                <c:pt idx="1">
                  <c:v>64.2</c:v>
                </c:pt>
                <c:pt idx="2">
                  <c:v>62</c:v>
                </c:pt>
                <c:pt idx="3">
                  <c:v>66.5</c:v>
                </c:pt>
                <c:pt idx="4">
                  <c:v>61.3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8E0-47EE-BC25-B7585FD7915D}"/>
            </c:ext>
          </c:extLst>
        </c:ser>
        <c:ser>
          <c:idx val="1"/>
          <c:order val="1"/>
          <c:tx>
            <c:strRef>
              <c:f>'FinalTables and Graphs'!$E$15</c:f>
              <c:strCache>
                <c:ptCount val="1"/>
                <c:pt idx="0">
                  <c:v>Amazon</c:v>
                </c:pt>
              </c:strCache>
            </c:strRef>
          </c:tx>
          <c:spPr>
            <a:ln w="28575" cap="rnd">
              <a:solidFill>
                <a:srgbClr val="FFC0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rgbClr val="FFC000"/>
                </a:solidFill>
              </a:ln>
              <a:effectLst/>
            </c:spPr>
          </c:marker>
          <c:val>
            <c:numRef>
              <c:f>'FinalTables and Graphs'!$E$16:$E$20</c:f>
              <c:numCache>
                <c:formatCode>General</c:formatCode>
                <c:ptCount val="5"/>
                <c:pt idx="0">
                  <c:v>7.56</c:v>
                </c:pt>
                <c:pt idx="1">
                  <c:v>7</c:v>
                </c:pt>
                <c:pt idx="2">
                  <c:v>7.7</c:v>
                </c:pt>
                <c:pt idx="3">
                  <c:v>7</c:v>
                </c:pt>
                <c:pt idx="4">
                  <c:v>8.1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8E0-47EE-BC25-B7585FD7915D}"/>
            </c:ext>
          </c:extLst>
        </c:ser>
        <c:ser>
          <c:idx val="2"/>
          <c:order val="2"/>
          <c:tx>
            <c:strRef>
              <c:f>'FinalTables and Graphs'!$F$15</c:f>
              <c:strCache>
                <c:ptCount val="1"/>
                <c:pt idx="0">
                  <c:v>Target</c:v>
                </c:pt>
              </c:strCache>
            </c:strRef>
          </c:tx>
          <c:spPr>
            <a:ln w="28575" cap="rnd">
              <a:solidFill>
                <a:schemeClr val="bg1">
                  <a:lumMod val="6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bg1">
                    <a:lumMod val="65000"/>
                  </a:schemeClr>
                </a:solidFill>
              </a:ln>
              <a:effectLst/>
            </c:spPr>
          </c:marker>
          <c:val>
            <c:numRef>
              <c:f>'FinalTables and Graphs'!$F$16:$F$20</c:f>
              <c:numCache>
                <c:formatCode>General</c:formatCode>
                <c:ptCount val="5"/>
                <c:pt idx="0">
                  <c:v>5.83</c:v>
                </c:pt>
                <c:pt idx="1">
                  <c:v>6.04</c:v>
                </c:pt>
                <c:pt idx="2">
                  <c:v>5.88</c:v>
                </c:pt>
                <c:pt idx="3">
                  <c:v>5.9</c:v>
                </c:pt>
                <c:pt idx="4">
                  <c:v>5.6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8E0-47EE-BC25-B7585FD791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47011600"/>
        <c:axId val="814360000"/>
      </c:lineChart>
      <c:catAx>
        <c:axId val="124701160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14360000"/>
        <c:crosses val="autoZero"/>
        <c:auto val="1"/>
        <c:lblAlgn val="ctr"/>
        <c:lblOffset val="100"/>
        <c:noMultiLvlLbl val="0"/>
      </c:catAx>
      <c:valAx>
        <c:axId val="8143600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470116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rgbClr val="F9F9F9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sng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b="1" u="sng" dirty="0"/>
              <a:t>Accounts</a:t>
            </a:r>
            <a:r>
              <a:rPr lang="en-US" sz="1600" b="1" u="sng" baseline="0" dirty="0"/>
              <a:t> Receivable Turnover (ART) </a:t>
            </a:r>
            <a:endParaRPr lang="en-US" sz="1600" b="1" u="sng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sng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7.6469816272965882E-2"/>
          <c:y val="0.17171296296296298"/>
          <c:w val="0.89019685039370078"/>
          <c:h val="0.61498432487605714"/>
        </c:manualLayout>
      </c:layout>
      <c:lineChart>
        <c:grouping val="standard"/>
        <c:varyColors val="0"/>
        <c:ser>
          <c:idx val="0"/>
          <c:order val="0"/>
          <c:tx>
            <c:strRef>
              <c:f>'FinalTables and Graphs'!$D$7</c:f>
              <c:strCache>
                <c:ptCount val="1"/>
                <c:pt idx="0">
                  <c:v>Walmart</c:v>
                </c:pt>
              </c:strCache>
            </c:strRef>
          </c:tx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rgbClr val="00B0F0"/>
                </a:solidFill>
              </a:ln>
              <a:effectLst/>
            </c:spPr>
          </c:marker>
          <c:val>
            <c:numRef>
              <c:f>'FinalTables and Graphs'!$D$8:$D$12</c:f>
              <c:numCache>
                <c:formatCode>General</c:formatCode>
                <c:ptCount val="5"/>
                <c:pt idx="0">
                  <c:v>71.650000000000006</c:v>
                </c:pt>
                <c:pt idx="1">
                  <c:v>85.7</c:v>
                </c:pt>
                <c:pt idx="2">
                  <c:v>83.3</c:v>
                </c:pt>
                <c:pt idx="3">
                  <c:v>89.1</c:v>
                </c:pt>
                <c:pt idx="4">
                  <c:v>81.8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EAC-47DB-8970-B8E820B213F2}"/>
            </c:ext>
          </c:extLst>
        </c:ser>
        <c:ser>
          <c:idx val="1"/>
          <c:order val="1"/>
          <c:tx>
            <c:strRef>
              <c:f>'FinalTables and Graphs'!$E$7</c:f>
              <c:strCache>
                <c:ptCount val="1"/>
                <c:pt idx="0">
                  <c:v>Amazon</c:v>
                </c:pt>
              </c:strCache>
            </c:strRef>
          </c:tx>
          <c:spPr>
            <a:ln w="28575" cap="rnd">
              <a:solidFill>
                <a:srgbClr val="FFC0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rgbClr val="FFC000"/>
                </a:solidFill>
              </a:ln>
              <a:effectLst/>
            </c:spPr>
          </c:marker>
          <c:val>
            <c:numRef>
              <c:f>'FinalTables and Graphs'!$E$8:$E$12</c:f>
              <c:numCache>
                <c:formatCode>General</c:formatCode>
                <c:ptCount val="5"/>
                <c:pt idx="0">
                  <c:v>15.8</c:v>
                </c:pt>
                <c:pt idx="1">
                  <c:v>16.600000000000001</c:v>
                </c:pt>
                <c:pt idx="2">
                  <c:v>16.3</c:v>
                </c:pt>
                <c:pt idx="3">
                  <c:v>13.5</c:v>
                </c:pt>
                <c:pt idx="4">
                  <c:v>13.9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EAC-47DB-8970-B8E820B213F2}"/>
            </c:ext>
          </c:extLst>
        </c:ser>
        <c:ser>
          <c:idx val="2"/>
          <c:order val="2"/>
          <c:tx>
            <c:strRef>
              <c:f>'FinalTables and Graphs'!$F$7</c:f>
              <c:strCache>
                <c:ptCount val="1"/>
                <c:pt idx="0">
                  <c:v>Target</c:v>
                </c:pt>
              </c:strCache>
            </c:strRef>
          </c:tx>
          <c:spPr>
            <a:ln w="28575" cap="rnd">
              <a:solidFill>
                <a:schemeClr val="bg1">
                  <a:lumMod val="6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bg1">
                    <a:lumMod val="65000"/>
                  </a:schemeClr>
                </a:solidFill>
              </a:ln>
              <a:effectLst/>
            </c:spPr>
          </c:marker>
          <c:val>
            <c:numRef>
              <c:f>'FinalTables and Graphs'!$F$8:$F$12</c:f>
              <c:numCache>
                <c:formatCode>General</c:formatCode>
                <c:ptCount val="5"/>
                <c:pt idx="0">
                  <c:v>147.30000000000001</c:v>
                </c:pt>
                <c:pt idx="1">
                  <c:v>194.7</c:v>
                </c:pt>
                <c:pt idx="2">
                  <c:v>182.5</c:v>
                </c:pt>
                <c:pt idx="3">
                  <c:v>174.8</c:v>
                </c:pt>
                <c:pt idx="4">
                  <c:v>161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EAC-47DB-8970-B8E820B213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44129760"/>
        <c:axId val="1102679856"/>
      </c:lineChart>
      <c:catAx>
        <c:axId val="124412976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02679856"/>
        <c:crosses val="autoZero"/>
        <c:auto val="1"/>
        <c:lblAlgn val="ctr"/>
        <c:lblOffset val="100"/>
        <c:noMultiLvlLbl val="0"/>
      </c:catAx>
      <c:valAx>
        <c:axId val="11026798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441297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7570927957244268"/>
          <c:y val="0.85345508695695882"/>
          <c:w val="0.44378525483181913"/>
          <c:h val="5.866455340783166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rgbClr val="FAFAFA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sng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u="sng" dirty="0"/>
              <a:t>Cash-to-Cash Cycle (C2C)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sng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'FinalTables and Graphs'!$D$31</c:f>
              <c:strCache>
                <c:ptCount val="1"/>
                <c:pt idx="0">
                  <c:v>Walmart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val>
            <c:numRef>
              <c:f>'FinalTables and Graphs'!$D$32:$D$36</c:f>
              <c:numCache>
                <c:formatCode>General</c:formatCode>
                <c:ptCount val="5"/>
                <c:pt idx="0">
                  <c:v>-3.8</c:v>
                </c:pt>
                <c:pt idx="1">
                  <c:v>-4.12</c:v>
                </c:pt>
                <c:pt idx="2">
                  <c:v>-4.51</c:v>
                </c:pt>
                <c:pt idx="3">
                  <c:v>-5.07</c:v>
                </c:pt>
                <c:pt idx="4">
                  <c:v>-4.88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67-48B8-A68B-B562A2A88A4E}"/>
            </c:ext>
          </c:extLst>
        </c:ser>
        <c:ser>
          <c:idx val="1"/>
          <c:order val="1"/>
          <c:tx>
            <c:strRef>
              <c:f>'FinalTables and Graphs'!$E$31</c:f>
              <c:strCache>
                <c:ptCount val="1"/>
                <c:pt idx="0">
                  <c:v>Amazon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val>
            <c:numRef>
              <c:f>'FinalTables and Graphs'!$E$32:$E$36</c:f>
              <c:numCache>
                <c:formatCode>General</c:formatCode>
                <c:ptCount val="5"/>
                <c:pt idx="0">
                  <c:v>-3.5</c:v>
                </c:pt>
                <c:pt idx="1">
                  <c:v>-4.26</c:v>
                </c:pt>
                <c:pt idx="2">
                  <c:v>-5</c:v>
                </c:pt>
                <c:pt idx="3">
                  <c:v>-4.8</c:v>
                </c:pt>
                <c:pt idx="4">
                  <c:v>-4.1399999999999997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167-48B8-A68B-B562A2A88A4E}"/>
            </c:ext>
          </c:extLst>
        </c:ser>
        <c:ser>
          <c:idx val="2"/>
          <c:order val="2"/>
          <c:tx>
            <c:strRef>
              <c:f>'FinalTables and Graphs'!$F$31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val>
            <c:numRef>
              <c:f>'FinalTables and Graphs'!$F$32:$F$36</c:f>
              <c:numCache>
                <c:formatCode>General</c:formatCode>
                <c:ptCount val="5"/>
                <c:pt idx="0">
                  <c:v>1.4</c:v>
                </c:pt>
                <c:pt idx="1">
                  <c:v>1.45</c:v>
                </c:pt>
                <c:pt idx="2">
                  <c:v>1.41</c:v>
                </c:pt>
                <c:pt idx="3">
                  <c:v>0.28000000000000003</c:v>
                </c:pt>
                <c:pt idx="4">
                  <c:v>7.0000000000000007E-2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167-48B8-A68B-B562A2A88A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47033504"/>
        <c:axId val="1102675696"/>
      </c:barChart>
      <c:catAx>
        <c:axId val="124703350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02675696"/>
        <c:crosses val="autoZero"/>
        <c:auto val="1"/>
        <c:lblAlgn val="ctr"/>
        <c:lblOffset val="100"/>
        <c:noMultiLvlLbl val="0"/>
      </c:catAx>
      <c:valAx>
        <c:axId val="11026756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470335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rgbClr val="FAFAFA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u="sng" dirty="0"/>
              <a:t>Account Payable Turnover (APT)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'FinalTables and Graphs'!$D$23</c:f>
              <c:strCache>
                <c:ptCount val="1"/>
                <c:pt idx="0">
                  <c:v>Walmart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val>
            <c:numRef>
              <c:f>'FinalTables and Graphs'!$D$24:$D$28</c:f>
              <c:numCache>
                <c:formatCode>General</c:formatCode>
                <c:ptCount val="5"/>
                <c:pt idx="0">
                  <c:v>9.5</c:v>
                </c:pt>
                <c:pt idx="1">
                  <c:v>9.3800000000000008</c:v>
                </c:pt>
                <c:pt idx="2">
                  <c:v>8.7200000000000006</c:v>
                </c:pt>
                <c:pt idx="3">
                  <c:v>8.1</c:v>
                </c:pt>
                <c:pt idx="4">
                  <c:v>8.1999999999999993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5B-4C36-A488-6C3B90A0E6E0}"/>
            </c:ext>
          </c:extLst>
        </c:ser>
        <c:ser>
          <c:idx val="1"/>
          <c:order val="1"/>
          <c:tx>
            <c:strRef>
              <c:f>'FinalTables and Graphs'!$E$23</c:f>
              <c:strCache>
                <c:ptCount val="1"/>
                <c:pt idx="0">
                  <c:v>Amazon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val>
            <c:numRef>
              <c:f>'FinalTables and Graphs'!$E$24:$E$28</c:f>
              <c:numCache>
                <c:formatCode>General</c:formatCode>
                <c:ptCount val="5"/>
                <c:pt idx="0">
                  <c:v>3.8</c:v>
                </c:pt>
                <c:pt idx="1">
                  <c:v>3.5</c:v>
                </c:pt>
                <c:pt idx="2">
                  <c:v>3.5</c:v>
                </c:pt>
                <c:pt idx="3">
                  <c:v>3.2</c:v>
                </c:pt>
                <c:pt idx="4">
                  <c:v>3.6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35B-4C36-A488-6C3B90A0E6E0}"/>
            </c:ext>
          </c:extLst>
        </c:ser>
        <c:ser>
          <c:idx val="2"/>
          <c:order val="2"/>
          <c:tx>
            <c:strRef>
              <c:f>'FinalTables and Graphs'!$F$23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val>
            <c:numRef>
              <c:f>'FinalTables and Graphs'!$F$24:$F$28</c:f>
              <c:numCache>
                <c:formatCode>General</c:formatCode>
                <c:ptCount val="5"/>
                <c:pt idx="0">
                  <c:v>6.6</c:v>
                </c:pt>
                <c:pt idx="1">
                  <c:v>7</c:v>
                </c:pt>
                <c:pt idx="2">
                  <c:v>6.73</c:v>
                </c:pt>
                <c:pt idx="3">
                  <c:v>5.9</c:v>
                </c:pt>
                <c:pt idx="4">
                  <c:v>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35B-4C36-A488-6C3B90A0E6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24080352"/>
        <c:axId val="1058872016"/>
      </c:barChart>
      <c:catAx>
        <c:axId val="1324080352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58872016"/>
        <c:crosses val="autoZero"/>
        <c:auto val="1"/>
        <c:lblAlgn val="ctr"/>
        <c:lblOffset val="100"/>
        <c:noMultiLvlLbl val="0"/>
      </c:catAx>
      <c:valAx>
        <c:axId val="1058872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240803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rgbClr val="FCFCFC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E7DFCC-2679-4C53-946B-FFD2E8D23F93}" type="datetimeFigureOut">
              <a:rPr lang="en-US"/>
              <a:t>10/12/2020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92054C-04CF-4A89-8CD3-B6A7AC08A866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875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92054C-04CF-4A89-8CD3-B6A7AC08A866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1129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92054C-04CF-4A89-8CD3-B6A7AC08A866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9533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92054C-04CF-4A89-8CD3-B6A7AC08A866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29621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92054C-04CF-4A89-8CD3-B6A7AC08A86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7261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92054C-04CF-4A89-8CD3-B6A7AC08A866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99509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92054C-04CF-4A89-8CD3-B6A7AC08A86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1769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92054C-04CF-4A89-8CD3-B6A7AC08A866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3810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86C69986-22E1-4423-ABD2-44B8164A1A22}" type="datetime1">
              <a:rPr lang="en-US" smtClean="0"/>
              <a:t>10/12/2020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7328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987F-513D-4FA6-AFE7-9BE072EE7E18}" type="datetime1">
              <a:rPr lang="en-US" smtClean="0"/>
              <a:t>10/12/2020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34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F0DFC-9877-418E-9C7E-C26850463C7D}" type="datetime1">
              <a:rPr lang="en-US" smtClean="0"/>
              <a:t>10/12/2020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7257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1AF2D-4B52-4FBF-8AFB-67E88898EF87}" type="datetime1">
              <a:rPr lang="en-US" smtClean="0"/>
              <a:t>10/12/2020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452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8CED5-0D6E-4C5B-9F07-A62087A907BC}" type="datetime1">
              <a:rPr lang="en-US" smtClean="0"/>
              <a:t>10/12/2020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7481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32761-DA2A-4161-9D92-7A8CB30B14C4}" type="datetime1">
              <a:rPr lang="en-US" smtClean="0"/>
              <a:t>10/12/2020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3697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11D3B-C148-4C42-AC87-8267455FB8F3}" type="datetime1">
              <a:rPr lang="en-US" smtClean="0"/>
              <a:t>10/12/2020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782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10E49-A68C-4B01-81CA-E789FA77E2DF}" type="datetime1">
              <a:rPr lang="en-US" smtClean="0"/>
              <a:t>10/12/2020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2108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53A09-813C-427E-A646-3B94E14E30BD}" type="datetime1">
              <a:rPr lang="en-US" smtClean="0"/>
              <a:t>10/12/2020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775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D0E35-F5FA-49BC-B2AE-9943B1860F12}" type="datetime1">
              <a:rPr lang="en-US" smtClean="0"/>
              <a:t>10/12/2020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674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67E74-E553-4599-8399-90D55DA26B88}" type="datetime1">
              <a:rPr lang="en-US" smtClean="0"/>
              <a:t>10/12/2020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44153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461A4-92F1-4294-BF1E-69DF053560D4}" type="datetime1">
              <a:rPr lang="en-US" smtClean="0"/>
              <a:t>10/12/2020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95308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37031-F82D-4AAA-BB41-6590BBD00C4D}" type="datetime1">
              <a:rPr lang="en-US" smtClean="0"/>
              <a:t>10/12/2020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6066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FEC81-89E3-4DD7-B203-2844E164FE76}" type="datetime1">
              <a:rPr lang="en-US" smtClean="0"/>
              <a:t>10/12/2020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98542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03FD8-AA57-4D24-BD28-DDE477C09805}" type="datetime1">
              <a:rPr lang="en-US" smtClean="0"/>
              <a:t>10/12/2020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27743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40234-8FF3-42BB-AF2B-5115999A558A}" type="datetime1">
              <a:rPr lang="en-US" smtClean="0"/>
              <a:t>10/12/2020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0851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D396F-29BD-4659-9908-A98902C69A23}" type="datetime1">
              <a:rPr lang="en-US" smtClean="0"/>
              <a:t>10/12/2020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1009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6C94827-56A5-4FB1-938A-F03CC077B8E6}" type="datetime1">
              <a:rPr lang="en-US" smtClean="0"/>
              <a:t>10/12/2020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299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cid:b9eff526-c8ba-40fe-8495-5b06f2d3b6b4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573B1553-1636-4954-B3CD-10A4DE0CA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D4B4DFC-38BA-4C07-8028-8FA8327DD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CCAF7D5-2AD8-4BDF-BE92-13524EA04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8C92429-C2FF-43F8-9F54-FF73D1271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35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8E75E6-FD49-46E3-B23E-9D5C97110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628539"/>
            <a:ext cx="10905066" cy="5600922"/>
          </a:xfrm>
          <a:prstGeom prst="rect">
            <a:avLst/>
          </a:prstGeom>
          <a:solidFill>
            <a:schemeClr val="accent6"/>
          </a:solidFill>
          <a:ln cap="sq">
            <a:noFill/>
            <a:miter lim="800000"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contourClr>
              <a:schemeClr val="accent6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8EE6BA1-F87F-4073-B5AB-365A42AD3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6" y="790956"/>
            <a:ext cx="10579608" cy="5276088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89000"/>
                </a:schemeClr>
              </a:gs>
              <a:gs pos="23000">
                <a:schemeClr val="accent6">
                  <a:lumMod val="89000"/>
                </a:schemeClr>
              </a:gs>
              <a:gs pos="69000">
                <a:schemeClr val="accent6">
                  <a:lumMod val="75000"/>
                </a:schemeClr>
              </a:gs>
              <a:gs pos="97000">
                <a:schemeClr val="accent6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5875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40C3ED-F35A-469F-96C5-27C00D61F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4330" y="793334"/>
            <a:ext cx="9596842" cy="469867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POM 610-631</a:t>
            </a:r>
            <a:r>
              <a:rPr lang="en-US" dirty="0">
                <a:solidFill>
                  <a:srgbClr val="FFFFFF"/>
                </a:solidFill>
              </a:rPr>
              <a:t>:</a:t>
            </a:r>
            <a:br>
              <a:rPr lang="en-US" dirty="0"/>
            </a:br>
            <a:r>
              <a:rPr lang="en-US" u="sng" dirty="0">
                <a:solidFill>
                  <a:srgbClr val="FFFFFF"/>
                </a:solidFill>
              </a:rPr>
              <a:t>Supply Chain Management I</a:t>
            </a:r>
            <a:br>
              <a:rPr lang="en-US" u="sng" dirty="0"/>
            </a:br>
            <a:br>
              <a:rPr lang="en-US" dirty="0"/>
            </a:br>
            <a:r>
              <a:rPr lang="en-US" dirty="0">
                <a:solidFill>
                  <a:srgbClr val="FFFFFF"/>
                </a:solidFill>
              </a:rPr>
              <a:t>Walmart Business Case Presentation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9B678A5-A064-46A6-817F-AE02396CCF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5551" y="4769963"/>
            <a:ext cx="1300898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3" descr="Text&#10;&#10;Description automatically generated">
            <a:extLst>
              <a:ext uri="{FF2B5EF4-FFF2-40B4-BE49-F238E27FC236}">
                <a16:creationId xmlns:a16="http://schemas.microsoft.com/office/drawing/2014/main" id="{56A7B221-8950-41AF-8221-B7BF7EE501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9201" y="6291333"/>
            <a:ext cx="2009775" cy="50482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76061B1-0881-4D8B-8B8F-BC8164A99604}"/>
              </a:ext>
            </a:extLst>
          </p:cNvPr>
          <p:cNvSpPr/>
          <p:nvPr/>
        </p:nvSpPr>
        <p:spPr>
          <a:xfrm>
            <a:off x="5345373" y="4703928"/>
            <a:ext cx="1455761" cy="159220"/>
          </a:xfrm>
          <a:prstGeom prst="rect">
            <a:avLst/>
          </a:prstGeom>
          <a:solidFill>
            <a:srgbClr val="722D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33DBAFD-2366-42DF-9979-B258A4A3F938}"/>
              </a:ext>
            </a:extLst>
          </p:cNvPr>
          <p:cNvSpPr txBox="1">
            <a:spLocks/>
          </p:cNvSpPr>
          <p:nvPr/>
        </p:nvSpPr>
        <p:spPr>
          <a:xfrm>
            <a:off x="1274832" y="4960780"/>
            <a:ext cx="9596842" cy="94642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600" dirty="0">
                <a:solidFill>
                  <a:srgbClr val="FFFFFF"/>
                </a:solidFill>
              </a:rPr>
              <a:t>PRESENTED BY: Dong, </a:t>
            </a:r>
            <a:r>
              <a:rPr lang="en-US" sz="1600" dirty="0" err="1">
                <a:solidFill>
                  <a:srgbClr val="FFFFFF"/>
                </a:solidFill>
              </a:rPr>
              <a:t>Yuhan</a:t>
            </a:r>
            <a:r>
              <a:rPr lang="en-US" sz="1600" dirty="0">
                <a:solidFill>
                  <a:srgbClr val="FFFFFF"/>
                </a:solidFill>
              </a:rPr>
              <a:t>; Ndong, Mathieu; Shelly, Henry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6FF1A-EC08-4E98-8BC6-02D9681BC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624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573B1553-1636-4954-B3CD-10A4DE0CA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D4B4DFC-38BA-4C07-8028-8FA8327DD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CCAF7D5-2AD8-4BDF-BE92-13524EA04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8C92429-C2FF-43F8-9F54-FF73D1271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35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8E75E6-FD49-46E3-B23E-9D5C97110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628539"/>
            <a:ext cx="10905066" cy="5600922"/>
          </a:xfrm>
          <a:prstGeom prst="rect">
            <a:avLst/>
          </a:prstGeom>
          <a:solidFill>
            <a:schemeClr val="accent6"/>
          </a:solidFill>
          <a:ln cap="sq">
            <a:noFill/>
            <a:miter lim="800000"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contourClr>
              <a:schemeClr val="accent6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8EE6BA1-F87F-4073-B5AB-365A42AD3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6" y="790956"/>
            <a:ext cx="10579608" cy="5276088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89000"/>
                </a:schemeClr>
              </a:gs>
              <a:gs pos="23000">
                <a:schemeClr val="accent6">
                  <a:lumMod val="89000"/>
                </a:schemeClr>
              </a:gs>
              <a:gs pos="69000">
                <a:schemeClr val="accent6">
                  <a:lumMod val="75000"/>
                </a:schemeClr>
              </a:gs>
              <a:gs pos="97000">
                <a:schemeClr val="accent6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5875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40C3ED-F35A-469F-96C5-27C00D61F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991" y="1768464"/>
            <a:ext cx="9596842" cy="331928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dirty="0">
                <a:solidFill>
                  <a:srgbClr val="FFFFFF"/>
                </a:solidFill>
              </a:rPr>
              <a:t>Analysis of Walmart’s</a:t>
            </a:r>
            <a:br>
              <a:rPr lang="en-US" sz="5400" dirty="0">
                <a:solidFill>
                  <a:srgbClr val="FFFFFF"/>
                </a:solidFill>
              </a:rPr>
            </a:br>
            <a:r>
              <a:rPr lang="en-US" sz="5400" dirty="0">
                <a:solidFill>
                  <a:srgbClr val="FFFFFF"/>
                </a:solidFill>
              </a:rPr>
              <a:t>Six Supply Chain Drivers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9B678A5-A064-46A6-817F-AE02396CCF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5551" y="4769963"/>
            <a:ext cx="1300898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3" descr="Text&#10;&#10;Description automatically generated">
            <a:extLst>
              <a:ext uri="{FF2B5EF4-FFF2-40B4-BE49-F238E27FC236}">
                <a16:creationId xmlns:a16="http://schemas.microsoft.com/office/drawing/2014/main" id="{8293ADD2-B920-44FB-B113-AB0AE1E32A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9201" y="6291333"/>
            <a:ext cx="2009775" cy="50482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0A4AF7C-8CA4-485D-97F6-F829344B8E21}"/>
              </a:ext>
            </a:extLst>
          </p:cNvPr>
          <p:cNvSpPr/>
          <p:nvPr/>
        </p:nvSpPr>
        <p:spPr>
          <a:xfrm>
            <a:off x="5345373" y="4703928"/>
            <a:ext cx="1455761" cy="159220"/>
          </a:xfrm>
          <a:prstGeom prst="rect">
            <a:avLst/>
          </a:prstGeom>
          <a:solidFill>
            <a:srgbClr val="722D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D7E90-C181-47D2-BF2E-52F4433E5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043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5ED66-A99C-4242-BD55-706A873E3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cs typeface="Calibri Light"/>
              </a:rPr>
              <a:t>The Relationship Between Supply Chain Operations and the Six Supply Chain Drivers </a:t>
            </a:r>
          </a:p>
        </p:txBody>
      </p:sp>
      <p:pic>
        <p:nvPicPr>
          <p:cNvPr id="6" name="Picture 5" descr="Image">
            <a:extLst>
              <a:ext uri="{FF2B5EF4-FFF2-40B4-BE49-F238E27FC236}">
                <a16:creationId xmlns:a16="http://schemas.microsoft.com/office/drawing/2014/main" id="{38394BF6-C554-4CF3-9A78-37519C4F28E4}"/>
              </a:ext>
            </a:extLst>
          </p:cNvPr>
          <p:cNvPicPr/>
          <p:nvPr/>
        </p:nvPicPr>
        <p:blipFill rotWithShape="1"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4" t="5303" r="4940" b="12987"/>
          <a:stretch/>
        </p:blipFill>
        <p:spPr bwMode="auto">
          <a:xfrm>
            <a:off x="2635037" y="2434310"/>
            <a:ext cx="6921926" cy="333377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E9E3BD3F-C617-46B6-AF8F-49375A7309A1}"/>
              </a:ext>
            </a:extLst>
          </p:cNvPr>
          <p:cNvSpPr txBox="1">
            <a:spLocks/>
          </p:cNvSpPr>
          <p:nvPr/>
        </p:nvSpPr>
        <p:spPr>
          <a:xfrm>
            <a:off x="5161713" y="6118200"/>
            <a:ext cx="6296429" cy="29127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200" dirty="0">
                <a:cs typeface="Calibri Light"/>
              </a:rPr>
              <a:t>Chopra, S. (2019). </a:t>
            </a:r>
            <a:r>
              <a:rPr lang="en-US" sz="1200" i="1" dirty="0">
                <a:cs typeface="Calibri Light"/>
              </a:rPr>
              <a:t>Supply Chain Management: Strategy, Planning, and Operation</a:t>
            </a:r>
            <a:r>
              <a:rPr lang="en-US" sz="1200" dirty="0">
                <a:cs typeface="Calibri Light"/>
              </a:rPr>
              <a:t>. (7th ed.) Pearson Education.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7FF260-C344-4723-8298-DB6A68AA0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664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5ED66-A99C-4242-BD55-706A873E3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u="sng" dirty="0">
                <a:cs typeface="Calibri Light"/>
              </a:rPr>
              <a:t>Facilities</a:t>
            </a:r>
            <a:br>
              <a:rPr lang="en-US" dirty="0">
                <a:cs typeface="Calibri Light"/>
              </a:rPr>
            </a:br>
            <a:r>
              <a:rPr lang="en-US" sz="2200" dirty="0">
                <a:cs typeface="Calibri Light"/>
              </a:rPr>
              <a:t>(Logistical Driver)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AAA7329-4DFD-45D6-804A-757886E845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449506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>
                <a:cs typeface="Calibri"/>
              </a:rPr>
              <a:t>Capability</a:t>
            </a:r>
          </a:p>
          <a:p>
            <a:pPr lvl="1"/>
            <a:r>
              <a:rPr lang="en-US" dirty="0">
                <a:cs typeface="Calibri"/>
              </a:rPr>
              <a:t>Supercenters function primarily as retail stores that house approximately 120,000 different products available for consumer purchase</a:t>
            </a:r>
          </a:p>
          <a:p>
            <a:pPr lvl="1"/>
            <a:r>
              <a:rPr lang="en-US" dirty="0">
                <a:cs typeface="Calibri"/>
              </a:rPr>
              <a:t>Distribution Centers (DCs) receive and house approximately 77% of merchandise that ultimately ends up in supercenters </a:t>
            </a:r>
          </a:p>
          <a:p>
            <a:r>
              <a:rPr lang="en-US" b="1" dirty="0">
                <a:cs typeface="Calibri"/>
              </a:rPr>
              <a:t>Location</a:t>
            </a:r>
          </a:p>
          <a:p>
            <a:pPr lvl="1"/>
            <a:r>
              <a:rPr lang="en-US" dirty="0">
                <a:cs typeface="Calibri"/>
              </a:rPr>
              <a:t>United States: supercenters are strategically located within 10 miles of 90% of the population</a:t>
            </a:r>
          </a:p>
          <a:p>
            <a:pPr lvl="1"/>
            <a:r>
              <a:rPr lang="en-US" dirty="0">
                <a:cs typeface="Calibri"/>
              </a:rPr>
              <a:t>Using the “hub-and-spoke” design, DCs are strategically placed within an average of 130 miles from supercenters</a:t>
            </a:r>
          </a:p>
          <a:p>
            <a:r>
              <a:rPr lang="en-US" b="1" dirty="0">
                <a:cs typeface="Calibri"/>
              </a:rPr>
              <a:t>Capacity</a:t>
            </a:r>
          </a:p>
          <a:p>
            <a:pPr lvl="1"/>
            <a:r>
              <a:rPr lang="en-US" dirty="0">
                <a:cs typeface="Calibri"/>
              </a:rPr>
              <a:t>Use of DCs, as well as plans for consolidation centers, allow supercenters to achieve lower capacity and inventory levels while still maintaining the responsive the supply chain strategy requires</a:t>
            </a:r>
          </a:p>
        </p:txBody>
      </p:sp>
      <p:pic>
        <p:nvPicPr>
          <p:cNvPr id="2050" name="Picture 2" descr="New Walmart Supercenter planned for Ledgewood Location">
            <a:extLst>
              <a:ext uri="{FF2B5EF4-FFF2-40B4-BE49-F238E27FC236}">
                <a16:creationId xmlns:a16="http://schemas.microsoft.com/office/drawing/2014/main" id="{F6AF7AF8-3852-4191-BA12-45A7C760F7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3555" y="728033"/>
            <a:ext cx="3018558" cy="1557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Wal-Mart Distribution Center's success linked to new stores, online sales">
            <a:extLst>
              <a:ext uri="{FF2B5EF4-FFF2-40B4-BE49-F238E27FC236}">
                <a16:creationId xmlns:a16="http://schemas.microsoft.com/office/drawing/2014/main" id="{2901264D-BDE5-489D-881E-46F00251B0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9888" y="742691"/>
            <a:ext cx="3018558" cy="154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D58979-31BC-4A58-884D-9F4383C35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502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5ED66-A99C-4242-BD55-706A873E3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u="sng" dirty="0">
                <a:cs typeface="Calibri Light"/>
              </a:rPr>
              <a:t>Inventory</a:t>
            </a:r>
            <a:br>
              <a:rPr lang="en-US" dirty="0">
                <a:cs typeface="Calibri Light"/>
              </a:rPr>
            </a:br>
            <a:r>
              <a:rPr lang="en-US" sz="2200" dirty="0">
                <a:cs typeface="Calibri Light"/>
              </a:rPr>
              <a:t>(Logistical Driver)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1A3AAF-526A-4F42-B827-659F7F518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>
                <a:cs typeface="Calibri"/>
              </a:rPr>
              <a:t>Cycle Inventory</a:t>
            </a:r>
          </a:p>
          <a:p>
            <a:pPr lvl="1"/>
            <a:r>
              <a:rPr lang="en-US" dirty="0">
                <a:cs typeface="Calibri"/>
              </a:rPr>
              <a:t>Maintained low costs by purchasing merchandise in large batches, as a means of capitalizing on the economies of scale of its suppliers</a:t>
            </a:r>
          </a:p>
          <a:p>
            <a:r>
              <a:rPr lang="en-US" b="1" dirty="0">
                <a:cs typeface="Calibri"/>
              </a:rPr>
              <a:t>Safe Inventory</a:t>
            </a:r>
          </a:p>
          <a:p>
            <a:pPr lvl="1"/>
            <a:r>
              <a:rPr lang="en-US" dirty="0">
                <a:cs typeface="Calibri"/>
              </a:rPr>
              <a:t>Avoided need for excess capacity through use of information systems and inventory data</a:t>
            </a:r>
          </a:p>
          <a:p>
            <a:r>
              <a:rPr lang="en-US" b="1" dirty="0">
                <a:cs typeface="Calibri"/>
              </a:rPr>
              <a:t>Seasonal Inventory</a:t>
            </a:r>
          </a:p>
          <a:p>
            <a:pPr lvl="1"/>
            <a:r>
              <a:rPr lang="en-US" dirty="0">
                <a:cs typeface="Calibri"/>
              </a:rPr>
              <a:t>Again, avoided need for excess capacity through use of information systems and inventory data</a:t>
            </a:r>
          </a:p>
          <a:p>
            <a:r>
              <a:rPr lang="en-US" b="1" dirty="0">
                <a:cs typeface="Calibri"/>
              </a:rPr>
              <a:t>Level of Product Availability</a:t>
            </a:r>
          </a:p>
          <a:p>
            <a:pPr lvl="1"/>
            <a:r>
              <a:rPr lang="en-US" dirty="0">
                <a:cs typeface="Calibri"/>
              </a:rPr>
              <a:t>Use of strategically placed DCs supported lower levels at retail supercenters</a:t>
            </a:r>
          </a:p>
        </p:txBody>
      </p:sp>
      <p:pic>
        <p:nvPicPr>
          <p:cNvPr id="3074" name="Picture 2" descr="Walmart is introducing inventory management robots to 650 more stores -  Business Insider">
            <a:extLst>
              <a:ext uri="{FF2B5EF4-FFF2-40B4-BE49-F238E27FC236}">
                <a16:creationId xmlns:a16="http://schemas.microsoft.com/office/drawing/2014/main" id="{418591E3-D1EF-4791-B486-121874C05F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8210" y="682335"/>
            <a:ext cx="2508588" cy="1603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Inventory Clerk Job Description Sample | Clerk jobs, Job description, Job  description template">
            <a:extLst>
              <a:ext uri="{FF2B5EF4-FFF2-40B4-BE49-F238E27FC236}">
                <a16:creationId xmlns:a16="http://schemas.microsoft.com/office/drawing/2014/main" id="{4A1B05E7-7959-47BD-8B31-3C4A7107BC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1961" y="682335"/>
            <a:ext cx="2461830" cy="1603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CD1289-3964-4DB2-A511-D202E2071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429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5ED66-A99C-4242-BD55-706A873E3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u="sng" dirty="0">
                <a:cs typeface="Calibri Light"/>
              </a:rPr>
              <a:t>Transportation</a:t>
            </a:r>
            <a:br>
              <a:rPr lang="en-US" dirty="0">
                <a:cs typeface="Calibri Light"/>
              </a:rPr>
            </a:br>
            <a:r>
              <a:rPr lang="en-US" sz="2200" dirty="0">
                <a:cs typeface="Calibri Light"/>
              </a:rPr>
              <a:t>(Logistical Driver)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0E3EC01-32A5-43C0-BB0E-B2B29D032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3"/>
            <a:ext cx="9601196" cy="2184079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>
                <a:cs typeface="Calibri"/>
              </a:rPr>
              <a:t>Design of Transportation Network</a:t>
            </a:r>
          </a:p>
          <a:p>
            <a:pPr lvl="1"/>
            <a:r>
              <a:rPr lang="en-US" dirty="0">
                <a:cs typeface="Calibri"/>
              </a:rPr>
              <a:t>Mix of “direct to demand point” shipping and “consolidation point” shipping</a:t>
            </a:r>
          </a:p>
          <a:p>
            <a:pPr lvl="1"/>
            <a:r>
              <a:rPr lang="en-US" dirty="0">
                <a:cs typeface="Calibri"/>
              </a:rPr>
              <a:t>“Hub-and-spoke” distribution channel design promotes efficiency and responsiveness</a:t>
            </a:r>
          </a:p>
          <a:p>
            <a:r>
              <a:rPr lang="en-US" b="1" dirty="0">
                <a:cs typeface="Calibri"/>
              </a:rPr>
              <a:t>Choice of Transportation Mode</a:t>
            </a:r>
          </a:p>
          <a:p>
            <a:pPr lvl="1"/>
            <a:r>
              <a:rPr lang="en-US" dirty="0">
                <a:cs typeface="Calibri"/>
              </a:rPr>
              <a:t>Walmart owned and operated truck fleet</a:t>
            </a:r>
          </a:p>
          <a:p>
            <a:pPr lvl="1"/>
            <a:r>
              <a:rPr lang="en-US" dirty="0">
                <a:cs typeface="Calibri"/>
              </a:rPr>
              <a:t>Distribution sourced through common carriers</a:t>
            </a:r>
          </a:p>
          <a:p>
            <a:endParaRPr lang="en-US" dirty="0">
              <a:cs typeface="Calibri"/>
            </a:endParaRPr>
          </a:p>
        </p:txBody>
      </p:sp>
      <p:pic>
        <p:nvPicPr>
          <p:cNvPr id="4098" name="Picture 2" descr="Walmart plans to hire 500 truck drivers this year - Talk Business &amp; Politics">
            <a:extLst>
              <a:ext uri="{FF2B5EF4-FFF2-40B4-BE49-F238E27FC236}">
                <a16:creationId xmlns:a16="http://schemas.microsoft.com/office/drawing/2014/main" id="{CDCD4D9D-5148-471B-BA23-017AA06477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9311" y="820879"/>
            <a:ext cx="2832098" cy="1496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2019 Top 100 Private Carriers | Transport Topics">
            <a:extLst>
              <a:ext uri="{FF2B5EF4-FFF2-40B4-BE49-F238E27FC236}">
                <a16:creationId xmlns:a16="http://schemas.microsoft.com/office/drawing/2014/main" id="{974A54E9-C5D4-4A3B-90B2-F1D3E72F3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0591" y="815144"/>
            <a:ext cx="2832098" cy="1496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511451-A038-4C9F-897D-B9FFD5471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187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5ED66-A99C-4242-BD55-706A873E3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u="sng" dirty="0">
                <a:cs typeface="Calibri Light"/>
              </a:rPr>
              <a:t>Information</a:t>
            </a:r>
            <a:br>
              <a:rPr lang="en-US" dirty="0">
                <a:cs typeface="Calibri Light"/>
              </a:rPr>
            </a:br>
            <a:r>
              <a:rPr lang="en-US" sz="2200" dirty="0">
                <a:cs typeface="Calibri Light"/>
              </a:rPr>
              <a:t>(Cross-Functional Driver)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FB442D3-D8A8-46EF-A46A-82323FAE0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3"/>
            <a:ext cx="9601196" cy="2933802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>
                <a:cs typeface="Calibri"/>
              </a:rPr>
              <a:t>Demand Planning</a:t>
            </a:r>
          </a:p>
          <a:p>
            <a:pPr lvl="1"/>
            <a:r>
              <a:rPr lang="en-US" dirty="0">
                <a:cs typeface="Calibri"/>
              </a:rPr>
              <a:t>Access to Retail Link allowed Walmart’s suppliers to accurately estimate future demand forecasts based upon historical sales data</a:t>
            </a:r>
          </a:p>
          <a:p>
            <a:r>
              <a:rPr lang="en-US" b="1" dirty="0">
                <a:cs typeface="Calibri"/>
              </a:rPr>
              <a:t>Coordination and Information Sharing</a:t>
            </a:r>
          </a:p>
          <a:p>
            <a:pPr lvl="1"/>
            <a:r>
              <a:rPr lang="en-US" dirty="0">
                <a:cs typeface="Calibri"/>
              </a:rPr>
              <a:t>The profitability of Walmart’s total supply chain was maximized via the practice of information sharing</a:t>
            </a:r>
          </a:p>
          <a:p>
            <a:r>
              <a:rPr lang="en-US" b="1" dirty="0">
                <a:cs typeface="Calibri"/>
              </a:rPr>
              <a:t>Sales and Operations Planning (S&amp;OP)</a:t>
            </a:r>
          </a:p>
          <a:p>
            <a:pPr lvl="1"/>
            <a:r>
              <a:rPr lang="en-US" dirty="0">
                <a:cs typeface="Calibri"/>
              </a:rPr>
              <a:t>Walmart structure supply chain strategy to meet future demand forecasts through use of historical sales data</a:t>
            </a:r>
          </a:p>
        </p:txBody>
      </p:sp>
      <p:pic>
        <p:nvPicPr>
          <p:cNvPr id="5122" name="Picture 2" descr="Supplier Reference Guide">
            <a:extLst>
              <a:ext uri="{FF2B5EF4-FFF2-40B4-BE49-F238E27FC236}">
                <a16:creationId xmlns:a16="http://schemas.microsoft.com/office/drawing/2014/main" id="{9D548F71-B95A-4AAE-A948-4D0D8D6CF2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436" y="775744"/>
            <a:ext cx="3027216" cy="1545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Walmart implementing RFID chips on Jeans and Underwear Aug 1st 'Please  Share' (MIRRORED) - YouTube">
            <a:extLst>
              <a:ext uri="{FF2B5EF4-FFF2-40B4-BE49-F238E27FC236}">
                <a16:creationId xmlns:a16="http://schemas.microsoft.com/office/drawing/2014/main" id="{8D9E9359-3124-4B15-8F84-76443646BC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455" y="746196"/>
            <a:ext cx="2847110" cy="1575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087C8-FB9F-4BBA-9872-FF10E1F83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835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5ED66-A99C-4242-BD55-706A873E3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u="sng" dirty="0">
                <a:cs typeface="Calibri Light"/>
              </a:rPr>
              <a:t>Sourcing</a:t>
            </a:r>
            <a:br>
              <a:rPr lang="en-US" dirty="0">
                <a:cs typeface="Calibri Light"/>
              </a:rPr>
            </a:br>
            <a:r>
              <a:rPr lang="en-US" sz="2200" dirty="0">
                <a:cs typeface="Calibri Light"/>
              </a:rPr>
              <a:t>(Cross-Functional Driver)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9076576-FE5C-4CD0-8DFC-2F42EFA887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>
                <a:cs typeface="Calibri"/>
              </a:rPr>
              <a:t>Combination of both “In-House” and “Outsourcing”</a:t>
            </a:r>
          </a:p>
          <a:p>
            <a:pPr lvl="1"/>
            <a:r>
              <a:rPr lang="en-US" dirty="0">
                <a:cs typeface="Calibri"/>
              </a:rPr>
              <a:t>In-House – (e.g.) distribution via Walmart’s privately owned and operated truck fleet</a:t>
            </a:r>
          </a:p>
          <a:p>
            <a:pPr lvl="1"/>
            <a:r>
              <a:rPr lang="en-US" dirty="0">
                <a:cs typeface="Calibri"/>
              </a:rPr>
              <a:t>Outsourced – (e.g.) delivery of perishable grocery merchandise via common carriers</a:t>
            </a:r>
          </a:p>
          <a:p>
            <a:r>
              <a:rPr lang="en-US" b="1" dirty="0">
                <a:cs typeface="Calibri"/>
              </a:rPr>
              <a:t>Supplier Selection</a:t>
            </a:r>
          </a:p>
          <a:p>
            <a:pPr lvl="1"/>
            <a:r>
              <a:rPr lang="en-US" dirty="0">
                <a:cs typeface="Calibri"/>
              </a:rPr>
              <a:t>Walmart estimated to have approximately 60,000 suppliers globally</a:t>
            </a:r>
          </a:p>
          <a:p>
            <a:pPr lvl="1"/>
            <a:r>
              <a:rPr lang="en-US" dirty="0">
                <a:cs typeface="Calibri"/>
              </a:rPr>
              <a:t>Leverage advantage </a:t>
            </a:r>
            <a:r>
              <a:rPr lang="en-US" dirty="0">
                <a:cs typeface="Calibri"/>
                <a:sym typeface="Wingdings" panose="05000000000000000000" pitchFamily="2" charset="2"/>
              </a:rPr>
              <a:t> Walmart</a:t>
            </a:r>
            <a:endParaRPr lang="en-US" dirty="0">
              <a:cs typeface="Calibri"/>
            </a:endParaRPr>
          </a:p>
          <a:p>
            <a:r>
              <a:rPr lang="en-US" b="1" dirty="0">
                <a:cs typeface="Calibri"/>
              </a:rPr>
              <a:t>Procurement</a:t>
            </a:r>
          </a:p>
          <a:p>
            <a:pPr lvl="1"/>
            <a:r>
              <a:rPr lang="en-US" dirty="0">
                <a:cs typeface="Calibri"/>
              </a:rPr>
              <a:t>Walmart’s buyers worked with an array of suppliers</a:t>
            </a:r>
          </a:p>
          <a:p>
            <a:pPr lvl="1"/>
            <a:r>
              <a:rPr lang="en-US" dirty="0">
                <a:cs typeface="Calibri"/>
              </a:rPr>
              <a:t>Buyers met quarterly to (e.g.) network, gather &amp; exchange field intelligence, review new products, etc.</a:t>
            </a:r>
          </a:p>
        </p:txBody>
      </p:sp>
      <p:pic>
        <p:nvPicPr>
          <p:cNvPr id="6146" name="Picture 2" descr="Wal-Mart Stores, Inc.">
            <a:extLst>
              <a:ext uri="{FF2B5EF4-FFF2-40B4-BE49-F238E27FC236}">
                <a16:creationId xmlns:a16="http://schemas.microsoft.com/office/drawing/2014/main" id="{7C5A8606-9C76-41E5-8030-9B48A2BBF6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8442" y="785125"/>
            <a:ext cx="2891271" cy="1500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Supplier Inclusion">
            <a:extLst>
              <a:ext uri="{FF2B5EF4-FFF2-40B4-BE49-F238E27FC236}">
                <a16:creationId xmlns:a16="http://schemas.microsoft.com/office/drawing/2014/main" id="{48F60B91-C19E-4022-BE04-F05EF403AB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2286" y="709828"/>
            <a:ext cx="2891271" cy="1576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EC9EC6-8F78-40F7-9C08-5542B4A20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002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5ED66-A99C-4242-BD55-706A873E3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u="sng" dirty="0">
                <a:cs typeface="Calibri Light"/>
              </a:rPr>
              <a:t>Pricing</a:t>
            </a:r>
            <a:br>
              <a:rPr lang="en-US" dirty="0">
                <a:cs typeface="Calibri Light"/>
              </a:rPr>
            </a:br>
            <a:r>
              <a:rPr lang="en-US" sz="2200" dirty="0">
                <a:cs typeface="Calibri Light"/>
              </a:rPr>
              <a:t>(Cross-Functional Driver)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49423-F1E7-4EA3-9AB6-B5BC89348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159151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 b="1" dirty="0">
                <a:cs typeface="Calibri"/>
              </a:rPr>
              <a:t>Pricing and Economies of Scale</a:t>
            </a:r>
          </a:p>
          <a:p>
            <a:pPr lvl="1"/>
            <a:r>
              <a:rPr lang="en-US" dirty="0">
                <a:cs typeface="Calibri"/>
              </a:rPr>
              <a:t>Walmart promoted economies of scale for its suppliers, as well exploiting economies of scale for itself</a:t>
            </a:r>
          </a:p>
          <a:p>
            <a:r>
              <a:rPr lang="en-US" b="1" dirty="0">
                <a:cs typeface="Calibri"/>
              </a:rPr>
              <a:t>Every Day Low Pricing (EDLP), rather than High-Low Pricing</a:t>
            </a:r>
          </a:p>
          <a:p>
            <a:pPr lvl="1"/>
            <a:r>
              <a:rPr lang="en-US" dirty="0">
                <a:cs typeface="Calibri"/>
              </a:rPr>
              <a:t>EDLP helped Walmart to keep its costs low while promoting a more stable demand for products</a:t>
            </a:r>
          </a:p>
          <a:p>
            <a:r>
              <a:rPr lang="en-US" b="1" dirty="0">
                <a:cs typeface="Calibri"/>
              </a:rPr>
              <a:t>Menu Pricing, rather than Fixed Price</a:t>
            </a:r>
          </a:p>
          <a:p>
            <a:pPr lvl="1"/>
            <a:r>
              <a:rPr lang="en-US" dirty="0">
                <a:cs typeface="Calibri"/>
              </a:rPr>
              <a:t>Pricing contingent upon supplier’s adherence to on-time delivery requirements</a:t>
            </a:r>
          </a:p>
          <a:p>
            <a:pPr lvl="1"/>
            <a:r>
              <a:rPr lang="en-US" dirty="0">
                <a:cs typeface="Calibri"/>
              </a:rPr>
              <a:t>Price negotiations with suppliers</a:t>
            </a:r>
          </a:p>
          <a:p>
            <a:pPr lvl="1"/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</p:txBody>
      </p:sp>
      <p:pic>
        <p:nvPicPr>
          <p:cNvPr id="7170" name="Picture 2" descr="Everyday low price - Wikipedia">
            <a:extLst>
              <a:ext uri="{FF2B5EF4-FFF2-40B4-BE49-F238E27FC236}">
                <a16:creationId xmlns:a16="http://schemas.microsoft.com/office/drawing/2014/main" id="{9DD391BC-D059-4959-964E-E534D35A0F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7184" y="785811"/>
            <a:ext cx="2431475" cy="1543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Walmart's EDLP - Frugal Upstate">
            <a:extLst>
              <a:ext uri="{FF2B5EF4-FFF2-40B4-BE49-F238E27FC236}">
                <a16:creationId xmlns:a16="http://schemas.microsoft.com/office/drawing/2014/main" id="{D1AB250D-57B4-4697-B363-F6C6053058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3340" y="785811"/>
            <a:ext cx="2431475" cy="1543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329A62-39F3-4A31-A818-F6C610F22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974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573B1553-1636-4954-B3CD-10A4DE0CA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D4B4DFC-38BA-4C07-8028-8FA8327DD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CCAF7D5-2AD8-4BDF-BE92-13524EA04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8C92429-C2FF-43F8-9F54-FF73D1271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35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8E75E6-FD49-46E3-B23E-9D5C97110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628539"/>
            <a:ext cx="10905066" cy="5600922"/>
          </a:xfrm>
          <a:prstGeom prst="rect">
            <a:avLst/>
          </a:prstGeom>
          <a:solidFill>
            <a:schemeClr val="accent6"/>
          </a:solidFill>
          <a:ln cap="sq">
            <a:noFill/>
            <a:miter lim="800000"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contourClr>
              <a:schemeClr val="accent6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8EE6BA1-F87F-4073-B5AB-365A42AD3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6" y="790956"/>
            <a:ext cx="10579608" cy="5276088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89000"/>
                </a:schemeClr>
              </a:gs>
              <a:gs pos="23000">
                <a:schemeClr val="accent6">
                  <a:lumMod val="89000"/>
                </a:schemeClr>
              </a:gs>
              <a:gs pos="69000">
                <a:schemeClr val="accent6">
                  <a:lumMod val="75000"/>
                </a:schemeClr>
              </a:gs>
              <a:gs pos="97000">
                <a:schemeClr val="accent6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5875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9B678A5-A064-46A6-817F-AE02396CCF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5551" y="4769963"/>
            <a:ext cx="1300898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3" descr="Text&#10;&#10;Description automatically generated">
            <a:extLst>
              <a:ext uri="{FF2B5EF4-FFF2-40B4-BE49-F238E27FC236}">
                <a16:creationId xmlns:a16="http://schemas.microsoft.com/office/drawing/2014/main" id="{8293ADD2-B920-44FB-B113-AB0AE1E32A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9201" y="6291333"/>
            <a:ext cx="2009775" cy="50482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0A4AF7C-8CA4-485D-97F6-F829344B8E21}"/>
              </a:ext>
            </a:extLst>
          </p:cNvPr>
          <p:cNvSpPr/>
          <p:nvPr/>
        </p:nvSpPr>
        <p:spPr>
          <a:xfrm>
            <a:off x="5345373" y="4703928"/>
            <a:ext cx="1455761" cy="159220"/>
          </a:xfrm>
          <a:prstGeom prst="rect">
            <a:avLst/>
          </a:prstGeom>
          <a:solidFill>
            <a:srgbClr val="722D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40C3ED-F35A-469F-96C5-27C00D61F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6181" y="1768464"/>
            <a:ext cx="9694144" cy="331928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Analysis of Walmart’s</a:t>
            </a:r>
            <a:br>
              <a:rPr lang="en-US" sz="6000" dirty="0">
                <a:solidFill>
                  <a:srgbClr val="FFFFFF"/>
                </a:solidFill>
              </a:rPr>
            </a:br>
            <a:r>
              <a:rPr lang="en-US" sz="6000" dirty="0">
                <a:solidFill>
                  <a:srgbClr val="FFFFFF"/>
                </a:solidFill>
              </a:rPr>
              <a:t>Financial Performance</a:t>
            </a:r>
            <a:br>
              <a:rPr lang="en-US" sz="6000" dirty="0">
                <a:solidFill>
                  <a:srgbClr val="FFFFFF"/>
                </a:solidFill>
              </a:rPr>
            </a:br>
            <a:br>
              <a:rPr lang="en-US" sz="6000" dirty="0">
                <a:solidFill>
                  <a:srgbClr val="FFFFFF"/>
                </a:solidFill>
              </a:rPr>
            </a:br>
            <a:r>
              <a:rPr lang="en-US" sz="3100" dirty="0">
                <a:solidFill>
                  <a:srgbClr val="FFFFFF"/>
                </a:solidFill>
              </a:rPr>
              <a:t>Walmart VS. Amazon VS. Target Study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C7F1F-08B2-4A7F-A949-F33BD7720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9512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44882-9403-4DE0-A9C9-AC9BCAA75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Supply Chain Metrics: INVT and ART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97574D5-55E1-4C0E-852C-5755FBCEFC4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8533100"/>
              </p:ext>
            </p:extLst>
          </p:nvPr>
        </p:nvGraphicFramePr>
        <p:xfrm>
          <a:off x="838200" y="2410243"/>
          <a:ext cx="5181600" cy="28985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FDE21CFB-4783-4FC0-A5D2-E25F162556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7988992"/>
              </p:ext>
            </p:extLst>
          </p:nvPr>
        </p:nvGraphicFramePr>
        <p:xfrm>
          <a:off x="6015096" y="2312194"/>
          <a:ext cx="5300061" cy="29965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DECBCBE-4301-4F9F-844B-EB1CDC41AE76}"/>
              </a:ext>
            </a:extLst>
          </p:cNvPr>
          <p:cNvSpPr txBox="1"/>
          <p:nvPr/>
        </p:nvSpPr>
        <p:spPr>
          <a:xfrm>
            <a:off x="876843" y="5308777"/>
            <a:ext cx="78501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ea typeface="Times New Roman" panose="02020603050405020304" pitchFamily="18" charset="0"/>
              </a:rPr>
              <a:t>Walmart turns its inventory ten times faster than Target on average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ea typeface="Times New Roman" panose="02020603050405020304" pitchFamily="18" charset="0"/>
              </a:rPr>
              <a:t>Walmart ART values are good relative to competitors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ea typeface="Times New Roman" panose="02020603050405020304" pitchFamily="18" charset="0"/>
              </a:rPr>
              <a:t>Both ART and INVT values have decreased from 2018 to 2019 for Walmart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9F2F60-C801-4799-B6E1-C64D7F655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8400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44882-9403-4DE0-A9C9-AC9BCAA75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Supply Chain Metrics: APT and C2C</a:t>
            </a:r>
          </a:p>
        </p:txBody>
      </p:sp>
      <p:graphicFrame>
        <p:nvGraphicFramePr>
          <p:cNvPr id="9" name="Content Placeholder 14">
            <a:extLst>
              <a:ext uri="{FF2B5EF4-FFF2-40B4-BE49-F238E27FC236}">
                <a16:creationId xmlns:a16="http://schemas.microsoft.com/office/drawing/2014/main" id="{724948BB-259D-4BE6-A059-A7FE5CAE191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12878878"/>
              </p:ext>
            </p:extLst>
          </p:nvPr>
        </p:nvGraphicFramePr>
        <p:xfrm>
          <a:off x="761781" y="2012909"/>
          <a:ext cx="5157787" cy="32333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Content Placeholder 13">
            <a:extLst>
              <a:ext uri="{FF2B5EF4-FFF2-40B4-BE49-F238E27FC236}">
                <a16:creationId xmlns:a16="http://schemas.microsoft.com/office/drawing/2014/main" id="{1F662480-9C11-414A-A080-878F2927204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52410956"/>
              </p:ext>
            </p:extLst>
          </p:nvPr>
        </p:nvGraphicFramePr>
        <p:xfrm>
          <a:off x="6096000" y="1998558"/>
          <a:ext cx="5521265" cy="33670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74951FA-520B-43A7-9307-362026483C02}"/>
              </a:ext>
            </a:extLst>
          </p:cNvPr>
          <p:cNvSpPr txBox="1"/>
          <p:nvPr/>
        </p:nvSpPr>
        <p:spPr>
          <a:xfrm>
            <a:off x="761781" y="5344998"/>
            <a:ext cx="60944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  <a:ea typeface="Times New Roman" panose="02020603050405020304" pitchFamily="18" charset="0"/>
              </a:rPr>
              <a:t>Walmart and Amazon have almost the same value of -5 in 2018. It means that they collected their money from the sales of their products more than 5 weeks before they had to pay their respective suppliers</a:t>
            </a:r>
            <a:endParaRPr 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9EB2F1-DBC2-4AAD-BA3F-461F54660BC3}"/>
              </a:ext>
            </a:extLst>
          </p:cNvPr>
          <p:cNvSpPr txBox="1"/>
          <p:nvPr/>
        </p:nvSpPr>
        <p:spPr>
          <a:xfrm>
            <a:off x="6856209" y="5350795"/>
            <a:ext cx="45030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Walmart finance its own operations for 6.4 weeks in 2019 with its suppliers’ money compare to 9.45 weeks for Amazon.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46B0B1-64D4-4B8D-9446-64243970A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2175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44882-9403-4DE0-A9C9-AC9BCAA75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752400"/>
          </a:xfrm>
        </p:spPr>
        <p:txBody>
          <a:bodyPr>
            <a:normAutofit fontScale="90000"/>
          </a:bodyPr>
          <a:lstStyle/>
          <a:p>
            <a:r>
              <a:rPr lang="en-US" u="sng" dirty="0"/>
              <a:t>Operating Margin and Net Margin </a:t>
            </a:r>
          </a:p>
        </p:txBody>
      </p:sp>
      <p:graphicFrame>
        <p:nvGraphicFramePr>
          <p:cNvPr id="7" name="Content Placeholder 14">
            <a:extLst>
              <a:ext uri="{FF2B5EF4-FFF2-40B4-BE49-F238E27FC236}">
                <a16:creationId xmlns:a16="http://schemas.microsoft.com/office/drawing/2014/main" id="{1E28F7D7-8828-433D-8EF7-32887AC995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35920816"/>
              </p:ext>
            </p:extLst>
          </p:nvPr>
        </p:nvGraphicFramePr>
        <p:xfrm>
          <a:off x="1186030" y="2327005"/>
          <a:ext cx="4616388" cy="2381412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154097">
                  <a:extLst>
                    <a:ext uri="{9D8B030D-6E8A-4147-A177-3AD203B41FA5}">
                      <a16:colId xmlns:a16="http://schemas.microsoft.com/office/drawing/2014/main" val="1254078474"/>
                    </a:ext>
                  </a:extLst>
                </a:gridCol>
                <a:gridCol w="1154097">
                  <a:extLst>
                    <a:ext uri="{9D8B030D-6E8A-4147-A177-3AD203B41FA5}">
                      <a16:colId xmlns:a16="http://schemas.microsoft.com/office/drawing/2014/main" val="2835223526"/>
                    </a:ext>
                  </a:extLst>
                </a:gridCol>
                <a:gridCol w="1154097">
                  <a:extLst>
                    <a:ext uri="{9D8B030D-6E8A-4147-A177-3AD203B41FA5}">
                      <a16:colId xmlns:a16="http://schemas.microsoft.com/office/drawing/2014/main" val="443508920"/>
                    </a:ext>
                  </a:extLst>
                </a:gridCol>
                <a:gridCol w="1154097">
                  <a:extLst>
                    <a:ext uri="{9D8B030D-6E8A-4147-A177-3AD203B41FA5}">
                      <a16:colId xmlns:a16="http://schemas.microsoft.com/office/drawing/2014/main" val="1312684212"/>
                    </a:ext>
                  </a:extLst>
                </a:gridCol>
              </a:tblGrid>
              <a:tr h="39690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u="none" strike="noStrike" dirty="0">
                          <a:effectLst/>
                        </a:rPr>
                        <a:t>Year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Walmart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u="none" strike="noStrike" dirty="0">
                          <a:effectLst/>
                        </a:rPr>
                        <a:t>Amazon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u="none" strike="noStrike" dirty="0">
                          <a:effectLst/>
                        </a:rPr>
                        <a:t>Target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3660252"/>
                  </a:ext>
                </a:extLst>
              </a:tr>
              <a:tr h="39690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2015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0.03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-0.003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0.03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7066376"/>
                  </a:ext>
                </a:extLst>
              </a:tr>
              <a:tr h="39690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2016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0.03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0.005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0.05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99026620"/>
                  </a:ext>
                </a:extLst>
              </a:tr>
              <a:tr h="39690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2017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</a:rPr>
                        <a:t>0.028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0.02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0.04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58726446"/>
                  </a:ext>
                </a:extLst>
              </a:tr>
              <a:tr h="39690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2018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</a:rPr>
                        <a:t>0.02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0.02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0.04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53415598"/>
                  </a:ext>
                </a:extLst>
              </a:tr>
              <a:tr h="39690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2019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0.01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0.04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0.038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30924490"/>
                  </a:ext>
                </a:extLst>
              </a:tr>
            </a:tbl>
          </a:graphicData>
        </a:graphic>
      </p:graphicFrame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0F44CBFE-4B83-4F03-BA2B-030E1EE2E38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25171571"/>
              </p:ext>
            </p:extLst>
          </p:nvPr>
        </p:nvGraphicFramePr>
        <p:xfrm>
          <a:off x="6389584" y="2327003"/>
          <a:ext cx="4651900" cy="23814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2975">
                  <a:extLst>
                    <a:ext uri="{9D8B030D-6E8A-4147-A177-3AD203B41FA5}">
                      <a16:colId xmlns:a16="http://schemas.microsoft.com/office/drawing/2014/main" val="4134802717"/>
                    </a:ext>
                  </a:extLst>
                </a:gridCol>
                <a:gridCol w="1162975">
                  <a:extLst>
                    <a:ext uri="{9D8B030D-6E8A-4147-A177-3AD203B41FA5}">
                      <a16:colId xmlns:a16="http://schemas.microsoft.com/office/drawing/2014/main" val="503488310"/>
                    </a:ext>
                  </a:extLst>
                </a:gridCol>
                <a:gridCol w="1162975">
                  <a:extLst>
                    <a:ext uri="{9D8B030D-6E8A-4147-A177-3AD203B41FA5}">
                      <a16:colId xmlns:a16="http://schemas.microsoft.com/office/drawing/2014/main" val="4039663836"/>
                    </a:ext>
                  </a:extLst>
                </a:gridCol>
                <a:gridCol w="1162975">
                  <a:extLst>
                    <a:ext uri="{9D8B030D-6E8A-4147-A177-3AD203B41FA5}">
                      <a16:colId xmlns:a16="http://schemas.microsoft.com/office/drawing/2014/main" val="635198975"/>
                    </a:ext>
                  </a:extLst>
                </a:gridCol>
              </a:tblGrid>
              <a:tr h="39690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u="none" strike="noStrike" dirty="0">
                          <a:effectLst/>
                        </a:rPr>
                        <a:t>Year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Walmart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u="none" strike="noStrike" dirty="0">
                          <a:effectLst/>
                        </a:rPr>
                        <a:t>Amazon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u="none" strike="noStrike" dirty="0">
                          <a:effectLst/>
                        </a:rPr>
                        <a:t>Target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436877"/>
                  </a:ext>
                </a:extLst>
              </a:tr>
              <a:tr h="39690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u="none" strike="noStrike" dirty="0">
                          <a:effectLst/>
                        </a:rPr>
                        <a:t>2015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0.06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u="none" strike="noStrike">
                          <a:effectLst/>
                        </a:rPr>
                        <a:t>0.02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u="none" strike="noStrike" dirty="0">
                          <a:effectLst/>
                        </a:rPr>
                        <a:t>0.06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28197153"/>
                  </a:ext>
                </a:extLst>
              </a:tr>
              <a:tr h="39690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u="none" strike="noStrike" dirty="0">
                          <a:effectLst/>
                        </a:rPr>
                        <a:t>2016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0.05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u="none" strike="noStrike">
                          <a:effectLst/>
                        </a:rPr>
                        <a:t>0.039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u="none" strike="noStrike">
                          <a:effectLst/>
                        </a:rPr>
                        <a:t>0.07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68255064"/>
                  </a:ext>
                </a:extLst>
              </a:tr>
              <a:tr h="39690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u="none" strike="noStrike" dirty="0">
                          <a:effectLst/>
                        </a:rPr>
                        <a:t>2017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</a:rPr>
                        <a:t>0.05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u="none" strike="noStrike" dirty="0">
                          <a:effectLst/>
                        </a:rPr>
                        <a:t>0.03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u="none" strike="noStrike">
                          <a:effectLst/>
                        </a:rPr>
                        <a:t>0.07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72438590"/>
                  </a:ext>
                </a:extLst>
              </a:tr>
              <a:tr h="39690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u="none" strike="noStrike" dirty="0">
                          <a:effectLst/>
                        </a:rPr>
                        <a:t>2018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0.04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u="none" strike="noStrike">
                          <a:effectLst/>
                        </a:rPr>
                        <a:t>0.07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u="none" strike="noStrike">
                          <a:effectLst/>
                        </a:rPr>
                        <a:t>0.06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6066070"/>
                  </a:ext>
                </a:extLst>
              </a:tr>
              <a:tr h="39690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u="none" strike="noStrike" dirty="0">
                          <a:effectLst/>
                        </a:rPr>
                        <a:t>2019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0.04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u="none" strike="noStrike">
                          <a:effectLst/>
                        </a:rPr>
                        <a:t>0.06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u="none" strike="noStrike" dirty="0">
                          <a:effectLst/>
                        </a:rPr>
                        <a:t>0.05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2144806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0B8F0C6-BACA-4DDA-916E-34588C9B7B13}"/>
              </a:ext>
            </a:extLst>
          </p:cNvPr>
          <p:cNvSpPr txBox="1"/>
          <p:nvPr/>
        </p:nvSpPr>
        <p:spPr>
          <a:xfrm>
            <a:off x="6927621" y="1780252"/>
            <a:ext cx="32553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i="0" u="sng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Operating Margin Table</a:t>
            </a:r>
            <a:r>
              <a:rPr lang="en-US" u="sng" dirty="0"/>
              <a:t>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40C67D-555D-4D19-9272-04BB21E99103}"/>
              </a:ext>
            </a:extLst>
          </p:cNvPr>
          <p:cNvSpPr/>
          <p:nvPr/>
        </p:nvSpPr>
        <p:spPr>
          <a:xfrm>
            <a:off x="5802417" y="2394125"/>
            <a:ext cx="587167" cy="45719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E2AA3D-AD3A-4485-8E26-CB78F9F5BA51}"/>
              </a:ext>
            </a:extLst>
          </p:cNvPr>
          <p:cNvSpPr txBox="1"/>
          <p:nvPr/>
        </p:nvSpPr>
        <p:spPr>
          <a:xfrm>
            <a:off x="2190821" y="1780252"/>
            <a:ext cx="26068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1800" b="1" i="0" u="sng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Net Margin Table</a:t>
            </a:r>
            <a:r>
              <a:rPr lang="en-US" u="sng" dirty="0"/>
              <a:t> 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DF00534F-CF02-487E-BF64-385365E2B4E1}"/>
              </a:ext>
            </a:extLst>
          </p:cNvPr>
          <p:cNvSpPr txBox="1">
            <a:spLocks/>
          </p:cNvSpPr>
          <p:nvPr/>
        </p:nvSpPr>
        <p:spPr>
          <a:xfrm>
            <a:off x="839788" y="4847209"/>
            <a:ext cx="5157787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Garamond (Body)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AC3CDD-DCC7-472B-8973-61B5F0B914EE}"/>
              </a:ext>
            </a:extLst>
          </p:cNvPr>
          <p:cNvSpPr txBox="1"/>
          <p:nvPr/>
        </p:nvSpPr>
        <p:spPr>
          <a:xfrm>
            <a:off x="5802417" y="4885834"/>
            <a:ext cx="609442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latin typeface="Garamond (Body)"/>
                <a:cs typeface="Times New Roman" panose="02020603050405020304" pitchFamily="18" charset="0"/>
              </a:rPr>
              <a:t>The Operating margin for Amazon is increasing over this period indicates a company whose profitability is improving.</a:t>
            </a:r>
            <a:endParaRPr lang="en-US" dirty="0">
              <a:latin typeface="Garamond (Body)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latin typeface="Garamond (Body)"/>
                <a:cs typeface="Times New Roman" panose="02020603050405020304" pitchFamily="18" charset="0"/>
              </a:rPr>
              <a:t>Steady decrease from 2015 to 2019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A1576F-F62A-46EA-9EFE-EB53934344E9}"/>
              </a:ext>
            </a:extLst>
          </p:cNvPr>
          <p:cNvSpPr txBox="1"/>
          <p:nvPr/>
        </p:nvSpPr>
        <p:spPr>
          <a:xfrm>
            <a:off x="833193" y="4906342"/>
            <a:ext cx="515778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Garamond (Body)"/>
                <a:ea typeface="Times New Roman" panose="02020603050405020304" pitchFamily="18" charset="0"/>
              </a:rPr>
              <a:t>Net margin shows how good a company is at converting revenue into profits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latin typeface="Garamond (Body)"/>
              </a:rPr>
              <a:t>Steady decrease from 2015 to 2019</a:t>
            </a:r>
            <a:endParaRPr lang="en-US" dirty="0">
              <a:latin typeface="Garamond (Body)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549E07-9452-45F6-A8DE-F4DB404E9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384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C6D2112-346A-4BEC-8E4B-E54A5F13461B}"/>
              </a:ext>
            </a:extLst>
          </p:cNvPr>
          <p:cNvSpPr/>
          <p:nvPr/>
        </p:nvSpPr>
        <p:spPr>
          <a:xfrm rot="5400000">
            <a:off x="7746607" y="2477187"/>
            <a:ext cx="587167" cy="45719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844882-9403-4DE0-A9C9-AC9BCAA75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u="sng" dirty="0"/>
              <a:t>Gross Profit Return, Asset Turnover &amp; ROE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4EC03B-6BEF-477B-9A8D-F15F5260466C}"/>
              </a:ext>
            </a:extLst>
          </p:cNvPr>
          <p:cNvSpPr txBox="1"/>
          <p:nvPr/>
        </p:nvSpPr>
        <p:spPr>
          <a:xfrm>
            <a:off x="730000" y="1947445"/>
            <a:ext cx="37040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Gross profit Return on Inventory</a:t>
            </a:r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B8F0C6-BACA-4DDA-916E-34588C9B7B13}"/>
              </a:ext>
            </a:extLst>
          </p:cNvPr>
          <p:cNvSpPr txBox="1"/>
          <p:nvPr/>
        </p:nvSpPr>
        <p:spPr>
          <a:xfrm>
            <a:off x="9639881" y="1969438"/>
            <a:ext cx="12573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ROE</a:t>
            </a:r>
            <a:endParaRPr lang="en-US" sz="16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40C67D-555D-4D19-9272-04BB21E99103}"/>
              </a:ext>
            </a:extLst>
          </p:cNvPr>
          <p:cNvSpPr/>
          <p:nvPr/>
        </p:nvSpPr>
        <p:spPr>
          <a:xfrm rot="5400000">
            <a:off x="4046328" y="2524134"/>
            <a:ext cx="587167" cy="45719"/>
          </a:xfrm>
          <a:prstGeom prst="rect">
            <a:avLst/>
          </a:prstGeom>
          <a:solidFill>
            <a:srgbClr val="FDFD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D1985-3E2B-47DA-9F23-A7E0F14832D2}"/>
              </a:ext>
            </a:extLst>
          </p:cNvPr>
          <p:cNvSpPr txBox="1"/>
          <p:nvPr/>
        </p:nvSpPr>
        <p:spPr>
          <a:xfrm>
            <a:off x="5222425" y="1991293"/>
            <a:ext cx="26068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Asset Turnover</a:t>
            </a:r>
            <a:endParaRPr lang="en-US" sz="1600" dirty="0"/>
          </a:p>
        </p:txBody>
      </p:sp>
      <p:graphicFrame>
        <p:nvGraphicFramePr>
          <p:cNvPr id="10" name="Content Placeholder 10">
            <a:extLst>
              <a:ext uri="{FF2B5EF4-FFF2-40B4-BE49-F238E27FC236}">
                <a16:creationId xmlns:a16="http://schemas.microsoft.com/office/drawing/2014/main" id="{AF6608AA-1AD0-4262-8240-53DD4E0845B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86696217"/>
              </p:ext>
            </p:extLst>
          </p:nvPr>
        </p:nvGraphicFramePr>
        <p:xfrm>
          <a:off x="547950" y="2329987"/>
          <a:ext cx="3766588" cy="2796465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941647">
                  <a:extLst>
                    <a:ext uri="{9D8B030D-6E8A-4147-A177-3AD203B41FA5}">
                      <a16:colId xmlns:a16="http://schemas.microsoft.com/office/drawing/2014/main" val="1031989575"/>
                    </a:ext>
                  </a:extLst>
                </a:gridCol>
                <a:gridCol w="941647">
                  <a:extLst>
                    <a:ext uri="{9D8B030D-6E8A-4147-A177-3AD203B41FA5}">
                      <a16:colId xmlns:a16="http://schemas.microsoft.com/office/drawing/2014/main" val="3924433680"/>
                    </a:ext>
                  </a:extLst>
                </a:gridCol>
                <a:gridCol w="941647">
                  <a:extLst>
                    <a:ext uri="{9D8B030D-6E8A-4147-A177-3AD203B41FA5}">
                      <a16:colId xmlns:a16="http://schemas.microsoft.com/office/drawing/2014/main" val="3388593441"/>
                    </a:ext>
                  </a:extLst>
                </a:gridCol>
                <a:gridCol w="941647">
                  <a:extLst>
                    <a:ext uri="{9D8B030D-6E8A-4147-A177-3AD203B41FA5}">
                      <a16:colId xmlns:a16="http://schemas.microsoft.com/office/drawing/2014/main" val="1838103284"/>
                    </a:ext>
                  </a:extLst>
                </a:gridCol>
              </a:tblGrid>
              <a:tr h="38296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Year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Walmart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Amazon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Target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74558391"/>
                  </a:ext>
                </a:extLst>
              </a:tr>
              <a:tr h="4827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2015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2.67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3.16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2.43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10636186"/>
                  </a:ext>
                </a:extLst>
              </a:tr>
              <a:tr h="4827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2016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</a:rPr>
                        <a:t>2.72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3.45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2.53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88545408"/>
                  </a:ext>
                </a:extLst>
              </a:tr>
              <a:tr h="4827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2017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</a:rPr>
                        <a:t>2.89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4.16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2.57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26022299"/>
                  </a:ext>
                </a:extLst>
              </a:tr>
              <a:tr h="4827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2018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</a:rPr>
                        <a:t>2.89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4.1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2.49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70019573"/>
                  </a:ext>
                </a:extLst>
              </a:tr>
              <a:tr h="4827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2019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2.91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5.45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2.32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82735433"/>
                  </a:ext>
                </a:extLst>
              </a:tr>
            </a:tbl>
          </a:graphicData>
        </a:graphic>
      </p:graphicFrame>
      <p:graphicFrame>
        <p:nvGraphicFramePr>
          <p:cNvPr id="11" name="Content Placeholder 11">
            <a:extLst>
              <a:ext uri="{FF2B5EF4-FFF2-40B4-BE49-F238E27FC236}">
                <a16:creationId xmlns:a16="http://schemas.microsoft.com/office/drawing/2014/main" id="{6CB71D3F-36AC-49F0-994D-1998EE05E5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72641257"/>
              </p:ext>
            </p:extLst>
          </p:nvPr>
        </p:nvGraphicFramePr>
        <p:xfrm>
          <a:off x="4367105" y="2329986"/>
          <a:ext cx="3644703" cy="27964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20516">
                  <a:extLst>
                    <a:ext uri="{9D8B030D-6E8A-4147-A177-3AD203B41FA5}">
                      <a16:colId xmlns:a16="http://schemas.microsoft.com/office/drawing/2014/main" val="56740121"/>
                    </a:ext>
                  </a:extLst>
                </a:gridCol>
                <a:gridCol w="874729">
                  <a:extLst>
                    <a:ext uri="{9D8B030D-6E8A-4147-A177-3AD203B41FA5}">
                      <a16:colId xmlns:a16="http://schemas.microsoft.com/office/drawing/2014/main" val="3682006228"/>
                    </a:ext>
                  </a:extLst>
                </a:gridCol>
                <a:gridCol w="874729">
                  <a:extLst>
                    <a:ext uri="{9D8B030D-6E8A-4147-A177-3AD203B41FA5}">
                      <a16:colId xmlns:a16="http://schemas.microsoft.com/office/drawing/2014/main" val="2311122494"/>
                    </a:ext>
                  </a:extLst>
                </a:gridCol>
                <a:gridCol w="874729">
                  <a:extLst>
                    <a:ext uri="{9D8B030D-6E8A-4147-A177-3AD203B41FA5}">
                      <a16:colId xmlns:a16="http://schemas.microsoft.com/office/drawing/2014/main" val="1795463607"/>
                    </a:ext>
                  </a:extLst>
                </a:gridCol>
              </a:tblGrid>
              <a:tr h="53775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Year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Walmart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Amazon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Target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70899754"/>
                  </a:ext>
                </a:extLst>
              </a:tr>
              <a:tr h="4517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2015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</a:rPr>
                        <a:t>2.38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1.63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1.75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23427666"/>
                  </a:ext>
                </a:extLst>
              </a:tr>
              <a:tr h="4517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2016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</a:rPr>
                        <a:t>2.41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1.63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1.83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44831877"/>
                  </a:ext>
                </a:extLst>
              </a:tr>
              <a:tr h="4517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2017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</a:rPr>
                        <a:t>2.44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1.63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1.88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52334101"/>
                  </a:ext>
                </a:extLst>
              </a:tr>
              <a:tr h="4517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2018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2.45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1.35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1.86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19462404"/>
                  </a:ext>
                </a:extLst>
              </a:tr>
              <a:tr h="4517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2019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2.35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1.43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1.82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38372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F874A58-9A48-43BC-8073-E69C27C370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6098503"/>
              </p:ext>
            </p:extLst>
          </p:nvPr>
        </p:nvGraphicFramePr>
        <p:xfrm>
          <a:off x="8064376" y="2329985"/>
          <a:ext cx="3579674" cy="2796467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1002308">
                  <a:extLst>
                    <a:ext uri="{9D8B030D-6E8A-4147-A177-3AD203B41FA5}">
                      <a16:colId xmlns:a16="http://schemas.microsoft.com/office/drawing/2014/main" val="697804202"/>
                    </a:ext>
                  </a:extLst>
                </a:gridCol>
                <a:gridCol w="859122">
                  <a:extLst>
                    <a:ext uri="{9D8B030D-6E8A-4147-A177-3AD203B41FA5}">
                      <a16:colId xmlns:a16="http://schemas.microsoft.com/office/drawing/2014/main" val="368914063"/>
                    </a:ext>
                  </a:extLst>
                </a:gridCol>
                <a:gridCol w="859122">
                  <a:extLst>
                    <a:ext uri="{9D8B030D-6E8A-4147-A177-3AD203B41FA5}">
                      <a16:colId xmlns:a16="http://schemas.microsoft.com/office/drawing/2014/main" val="221502808"/>
                    </a:ext>
                  </a:extLst>
                </a:gridCol>
                <a:gridCol w="859122">
                  <a:extLst>
                    <a:ext uri="{9D8B030D-6E8A-4147-A177-3AD203B41FA5}">
                      <a16:colId xmlns:a16="http://schemas.microsoft.com/office/drawing/2014/main" val="1319995133"/>
                    </a:ext>
                  </a:extLst>
                </a:gridCol>
              </a:tblGrid>
              <a:tr h="4578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Year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Walmart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Amazon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Target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52685778"/>
                  </a:ext>
                </a:extLst>
              </a:tr>
              <a:tr h="4578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2015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</a:rPr>
                        <a:t>0.19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-0.02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0.17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1914877"/>
                  </a:ext>
                </a:extLst>
              </a:tr>
              <a:tr h="4578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2016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0.19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0.04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0.25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94364871"/>
                  </a:ext>
                </a:extLst>
              </a:tr>
              <a:tr h="4578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2017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</a:rPr>
                        <a:t>0.17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0.12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0.24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01807117"/>
                  </a:ext>
                </a:extLst>
              </a:tr>
              <a:tr h="5264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2018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</a:rPr>
                        <a:t>0.12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0.11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0.25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33605900"/>
                  </a:ext>
                </a:extLst>
              </a:tr>
              <a:tr h="4387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2019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0.09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0.23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0.26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7534372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4C009FE9-532F-40A4-AE35-33DECDE416B3}"/>
              </a:ext>
            </a:extLst>
          </p:cNvPr>
          <p:cNvSpPr txBox="1"/>
          <p:nvPr/>
        </p:nvSpPr>
        <p:spPr>
          <a:xfrm>
            <a:off x="879050" y="5552702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High asset Turnover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Steady increase in Gross Profit Return on Inventory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CC8033-E60A-44A8-ACC1-FEDC0EA2BD89}"/>
              </a:ext>
            </a:extLst>
          </p:cNvPr>
          <p:cNvSpPr txBox="1"/>
          <p:nvPr/>
        </p:nvSpPr>
        <p:spPr>
          <a:xfrm>
            <a:off x="6097572" y="5552702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Decrease in ROE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Walmart is less efficient in generating profit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51597C2-FF32-42B0-90E5-41D4925C5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810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573B1553-1636-4954-B3CD-10A4DE0CA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D4B4DFC-38BA-4C07-8028-8FA8327DD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CCAF7D5-2AD8-4BDF-BE92-13524EA04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8C92429-C2FF-43F8-9F54-FF73D1271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35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8E75E6-FD49-46E3-B23E-9D5C97110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628539"/>
            <a:ext cx="10905066" cy="5600922"/>
          </a:xfrm>
          <a:prstGeom prst="rect">
            <a:avLst/>
          </a:prstGeom>
          <a:solidFill>
            <a:schemeClr val="accent6"/>
          </a:solidFill>
          <a:ln cap="sq">
            <a:noFill/>
            <a:miter lim="800000"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contourClr>
              <a:schemeClr val="accent6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8EE6BA1-F87F-4073-B5AB-365A42AD3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6" y="790956"/>
            <a:ext cx="10579608" cy="5276088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89000"/>
                </a:schemeClr>
              </a:gs>
              <a:gs pos="23000">
                <a:schemeClr val="accent6">
                  <a:lumMod val="89000"/>
                </a:schemeClr>
              </a:gs>
              <a:gs pos="69000">
                <a:schemeClr val="accent6">
                  <a:lumMod val="75000"/>
                </a:schemeClr>
              </a:gs>
              <a:gs pos="97000">
                <a:schemeClr val="accent6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5875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9B678A5-A064-46A6-817F-AE02396CCF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5551" y="4769963"/>
            <a:ext cx="1300898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3" descr="Text&#10;&#10;Description automatically generated">
            <a:extLst>
              <a:ext uri="{FF2B5EF4-FFF2-40B4-BE49-F238E27FC236}">
                <a16:creationId xmlns:a16="http://schemas.microsoft.com/office/drawing/2014/main" id="{8293ADD2-B920-44FB-B113-AB0AE1E32A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9201" y="6291333"/>
            <a:ext cx="2009775" cy="50482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0A4AF7C-8CA4-485D-97F6-F829344B8E21}"/>
              </a:ext>
            </a:extLst>
          </p:cNvPr>
          <p:cNvSpPr/>
          <p:nvPr/>
        </p:nvSpPr>
        <p:spPr>
          <a:xfrm>
            <a:off x="5345373" y="4703928"/>
            <a:ext cx="1455761" cy="159220"/>
          </a:xfrm>
          <a:prstGeom prst="rect">
            <a:avLst/>
          </a:prstGeom>
          <a:solidFill>
            <a:srgbClr val="722D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40C3ED-F35A-469F-96C5-27C00D61F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8229" y="1582990"/>
            <a:ext cx="9596842" cy="38782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dirty="0">
                <a:solidFill>
                  <a:srgbClr val="FFFFFF"/>
                </a:solidFill>
              </a:rPr>
              <a:t>Analysis of Walmart’s</a:t>
            </a:r>
            <a:br>
              <a:rPr lang="en-US" sz="5400" dirty="0">
                <a:solidFill>
                  <a:srgbClr val="FFFFFF"/>
                </a:solidFill>
              </a:rPr>
            </a:br>
            <a:r>
              <a:rPr lang="en-US" sz="5400" dirty="0">
                <a:solidFill>
                  <a:srgbClr val="FFFFFF"/>
                </a:solidFill>
              </a:rPr>
              <a:t>Supply Chain Distribution Structures and Challenges</a:t>
            </a:r>
            <a:br>
              <a:rPr lang="en-US" sz="5400" dirty="0">
                <a:solidFill>
                  <a:srgbClr val="FFFFFF"/>
                </a:solidFill>
              </a:rPr>
            </a:br>
            <a:r>
              <a:rPr lang="en-US" sz="5400" dirty="0">
                <a:solidFill>
                  <a:srgbClr val="FFFFFF"/>
                </a:solidFill>
              </a:rPr>
              <a:t>Moving Forward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CB5E8-297D-47EB-B158-39F1B36F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5826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0456E-C74A-47C1-91AC-6FD68746A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u="sng" dirty="0">
                <a:latin typeface="Garamond (Headings)"/>
                <a:cs typeface="Algerian" panose="020F0502020204030204" pitchFamily="34" charset="0"/>
              </a:rPr>
              <a:t>Distribution Options</a:t>
            </a:r>
            <a:endParaRPr lang="en-US" sz="4000" u="sng" dirty="0">
              <a:latin typeface="Garamond (Headings)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F95E1-E8C0-4ECE-AC13-627565B09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1"/>
            <a:ext cx="9601196" cy="3504503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000000"/>
                </a:solidFill>
                <a:effectLst/>
                <a:latin typeface="Garamond (Body)"/>
                <a:cs typeface="Times New Roman" panose="02020603050405020304" pitchFamily="18" charset="0"/>
              </a:rPr>
              <a:t>1. Manufacturer storage, direct shipping </a:t>
            </a:r>
            <a:endParaRPr lang="en-US" sz="2400" dirty="0">
              <a:latin typeface="Garamond (Body)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rgbClr val="000000"/>
                </a:solidFill>
                <a:effectLst/>
                <a:latin typeface="Garamond (Body)"/>
                <a:cs typeface="Times New Roman" panose="02020603050405020304" pitchFamily="18" charset="0"/>
              </a:rPr>
              <a:t>2. Manufacturer storage, direct shipping, in-transit merge </a:t>
            </a:r>
            <a:endParaRPr lang="en-US" sz="2400" dirty="0">
              <a:latin typeface="Garamond (Body)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rgbClr val="000000"/>
                </a:solidFill>
                <a:effectLst/>
                <a:latin typeface="Garamond (Body)"/>
                <a:cs typeface="Times New Roman" panose="02020603050405020304" pitchFamily="18" charset="0"/>
              </a:rPr>
              <a:t>3. Distributor/retailer storage, carrier delivery </a:t>
            </a:r>
            <a:endParaRPr lang="en-US" sz="2400" dirty="0">
              <a:latin typeface="Garamond (Body)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rgbClr val="000000"/>
                </a:solidFill>
                <a:effectLst/>
                <a:latin typeface="Garamond (Body)"/>
                <a:cs typeface="Times New Roman" panose="02020603050405020304" pitchFamily="18" charset="0"/>
              </a:rPr>
              <a:t>4. Distributor/retailer storage, last-mile delivery </a:t>
            </a:r>
            <a:endParaRPr lang="en-US" sz="2400" dirty="0">
              <a:latin typeface="Garamond (Body)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rgbClr val="000000"/>
                </a:solidFill>
                <a:effectLst/>
                <a:latin typeface="Garamond (Body)"/>
                <a:cs typeface="Times New Roman" panose="02020603050405020304" pitchFamily="18" charset="0"/>
              </a:rPr>
              <a:t>5. Manufacturer/distributor storage, customer pickup </a:t>
            </a:r>
            <a:endParaRPr lang="en-US" sz="2400" dirty="0">
              <a:latin typeface="Garamond (Body)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rgbClr val="000000"/>
                </a:solidFill>
                <a:effectLst/>
                <a:latin typeface="Garamond (Body)"/>
                <a:cs typeface="Times New Roman" panose="02020603050405020304" pitchFamily="18" charset="0"/>
              </a:rPr>
              <a:t>6. Retail storage with customer pickup</a:t>
            </a:r>
            <a:endParaRPr lang="en-US" sz="2400" dirty="0">
              <a:latin typeface="Garamond (Body)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56B0DC-3F36-40D6-8C82-3DB411CDC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7843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B3151-DE02-4F1F-A92B-B0CCF66BF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u="sng" dirty="0">
                <a:latin typeface="Garamond (Headings)"/>
                <a:cs typeface="Aldhabi" pitchFamily="2" charset="-78"/>
              </a:rPr>
              <a:t>Manufacturer Storage with Direct Shipping</a:t>
            </a:r>
            <a:endParaRPr lang="en-US" sz="4000" u="sng" dirty="0">
              <a:latin typeface="Garamond (Headings)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A4E6112-5924-4F4D-A291-CBF4D55A4C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9932" y="2480553"/>
            <a:ext cx="6642605" cy="3715966"/>
          </a:xfr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884FBF4-229F-48BD-8956-2078D83664D7}"/>
              </a:ext>
            </a:extLst>
          </p:cNvPr>
          <p:cNvSpPr txBox="1">
            <a:spLocks/>
          </p:cNvSpPr>
          <p:nvPr/>
        </p:nvSpPr>
        <p:spPr>
          <a:xfrm>
            <a:off x="5161713" y="6118200"/>
            <a:ext cx="6296429" cy="29127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200" dirty="0">
                <a:cs typeface="Calibri Light"/>
              </a:rPr>
              <a:t>Chopra, S. (2019). </a:t>
            </a:r>
            <a:r>
              <a:rPr lang="en-US" sz="1200" i="1" dirty="0">
                <a:cs typeface="Calibri Light"/>
              </a:rPr>
              <a:t>Supply Chain Management: Strategy, Planning, and Operation</a:t>
            </a:r>
            <a:r>
              <a:rPr lang="en-US" sz="1200" dirty="0">
                <a:cs typeface="Calibri Light"/>
              </a:rPr>
              <a:t>. (7th ed.) Pearson Education.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4EA6DA-1E52-4CFB-9AED-BD4BBC118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901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B3151-DE02-4F1F-A92B-B0CCF66BF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Distributor Storage with Carrier Delivery</a:t>
            </a:r>
          </a:p>
        </p:txBody>
      </p:sp>
      <p:pic>
        <p:nvPicPr>
          <p:cNvPr id="4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5AA834FC-7A0E-45DE-B916-F1CB801AD4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71772" y="2557463"/>
            <a:ext cx="5848456" cy="3541780"/>
          </a:xfr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CFF0DB6-8C05-42D9-9124-E4BFD06CDB02}"/>
              </a:ext>
            </a:extLst>
          </p:cNvPr>
          <p:cNvSpPr txBox="1">
            <a:spLocks/>
          </p:cNvSpPr>
          <p:nvPr/>
        </p:nvSpPr>
        <p:spPr>
          <a:xfrm>
            <a:off x="5161713" y="6118200"/>
            <a:ext cx="6296429" cy="29127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200" dirty="0">
                <a:cs typeface="Calibri Light"/>
              </a:rPr>
              <a:t>Chopra, S. (2019). </a:t>
            </a:r>
            <a:r>
              <a:rPr lang="en-US" sz="1200" i="1" dirty="0">
                <a:cs typeface="Calibri Light"/>
              </a:rPr>
              <a:t>Supply Chain Management: Strategy, Planning, and Operation</a:t>
            </a:r>
            <a:r>
              <a:rPr lang="en-US" sz="1200" dirty="0">
                <a:cs typeface="Calibri Light"/>
              </a:rPr>
              <a:t>. (7th ed.) Pearson Education.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BD9A5F-AA07-4F93-A9D6-47DFE1951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641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B3151-DE02-4F1F-A92B-B0CCF66BF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u="sng" dirty="0"/>
              <a:t>Manufacturer or Distributor Storage with Customer Pickup</a:t>
            </a:r>
          </a:p>
        </p:txBody>
      </p:sp>
      <p:pic>
        <p:nvPicPr>
          <p:cNvPr id="4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95B258D4-E953-444B-BD8C-5186F56AA8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66497" y="2557462"/>
            <a:ext cx="6859005" cy="3551507"/>
          </a:xfr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F4E84F8-FD32-49A6-838F-9AB1236FD572}"/>
              </a:ext>
            </a:extLst>
          </p:cNvPr>
          <p:cNvSpPr txBox="1">
            <a:spLocks/>
          </p:cNvSpPr>
          <p:nvPr/>
        </p:nvSpPr>
        <p:spPr>
          <a:xfrm>
            <a:off x="5161713" y="6118200"/>
            <a:ext cx="6296429" cy="29127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200" dirty="0">
                <a:cs typeface="Calibri Light"/>
              </a:rPr>
              <a:t>Chopra, S. (2019). </a:t>
            </a:r>
            <a:r>
              <a:rPr lang="en-US" sz="1200" i="1" dirty="0">
                <a:cs typeface="Calibri Light"/>
              </a:rPr>
              <a:t>Supply Chain Management: Strategy, Planning, and Operation</a:t>
            </a:r>
            <a:r>
              <a:rPr lang="en-US" sz="1200" dirty="0">
                <a:cs typeface="Calibri Light"/>
              </a:rPr>
              <a:t>. (7th ed.) Pearson Education.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9CFB09-8FC2-4853-938E-70A5C4518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3223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B3151-DE02-4F1F-A92B-B0CCF66BF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Challenges Moving Forward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2AFFA-55EC-46C3-92D2-2CC377C5C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>
                <a:latin typeface="Garamond (Body)"/>
                <a:ea typeface="等线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lang="en-US" sz="2400" dirty="0">
                <a:latin typeface="Garamond (Body)"/>
                <a:ea typeface="等线" panose="02010600030101010101" pitchFamily="2" charset="-122"/>
                <a:cs typeface="Times New Roman" panose="02020603050405020304" pitchFamily="18" charset="0"/>
              </a:rPr>
              <a:t>hat changes needed to make to Walmart’s ever-expanding supply chain to support its strategic objectives. 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Garamond (Body)"/>
                <a:ea typeface="等线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lang="en-US" sz="2400" dirty="0">
                <a:latin typeface="Garamond (Body)"/>
                <a:ea typeface="等线" panose="02010600030101010101" pitchFamily="2" charset="-122"/>
                <a:cs typeface="Times New Roman" panose="02020603050405020304" pitchFamily="18" charset="0"/>
              </a:rPr>
              <a:t>hat supply chain capabilities would they need as its business model continued to evolve. 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02B488-59A9-4C84-B045-9139F5CA6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5555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B3151-DE02-4F1F-A92B-B0CCF66BF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Strategies Moving Forward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2AFFA-55EC-46C3-92D2-2CC377C5C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>
                <a:latin typeface="Garamond (Body)"/>
                <a:ea typeface="等线" panose="02010600030101010101" pitchFamily="2" charset="-122"/>
                <a:cs typeface="Times New Roman" panose="02020603050405020304" pitchFamily="18" charset="0"/>
              </a:rPr>
              <a:t>Reshaped its supply chain strategy to tackle the “last miles”</a:t>
            </a:r>
          </a:p>
          <a:p>
            <a:r>
              <a:rPr lang="en-US" dirty="0">
                <a:latin typeface="Garamond (Body)"/>
                <a:ea typeface="等线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sz="2400" dirty="0">
                <a:latin typeface="Garamond (Body)"/>
                <a:cs typeface="Times New Roman" panose="02020603050405020304" pitchFamily="18" charset="0"/>
              </a:rPr>
              <a:t>ocus on opportunities to reduce operational and supply chain costs, which translated into lower retail prices. </a:t>
            </a:r>
          </a:p>
          <a:p>
            <a:r>
              <a:rPr lang="en-US" dirty="0">
                <a:latin typeface="Garamond (Body)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Garamond (Body)"/>
                <a:cs typeface="Times New Roman" panose="02020603050405020304" pitchFamily="18" charset="0"/>
              </a:rPr>
              <a:t>nsisted on saturating the area within a day’s driving distance of DC in order to gain economies of scale.</a:t>
            </a:r>
          </a:p>
          <a:p>
            <a:r>
              <a:rPr lang="en-US" sz="2400" dirty="0">
                <a:latin typeface="Garamond (Body)"/>
                <a:cs typeface="Times New Roman" panose="02020603050405020304" pitchFamily="18" charset="0"/>
              </a:rPr>
              <a:t>Actively developed new apps for customers and store associates to convenient customer’s shopping experience and inventory management in stores. 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E4F55B-338B-49BC-854F-B44FE9404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896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573B1553-1636-4954-B3CD-10A4DE0CA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D4B4DFC-38BA-4C07-8028-8FA8327DD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CCAF7D5-2AD8-4BDF-BE92-13524EA04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8C92429-C2FF-43F8-9F54-FF73D1271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35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8E75E6-FD49-46E3-B23E-9D5C97110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628539"/>
            <a:ext cx="10905066" cy="5600922"/>
          </a:xfrm>
          <a:prstGeom prst="rect">
            <a:avLst/>
          </a:prstGeom>
          <a:solidFill>
            <a:schemeClr val="accent6"/>
          </a:solidFill>
          <a:ln cap="sq">
            <a:noFill/>
            <a:miter lim="800000"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contourClr>
              <a:schemeClr val="accent6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8EE6BA1-F87F-4073-B5AB-365A42AD3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6" y="790956"/>
            <a:ext cx="10579608" cy="5276088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89000"/>
                </a:schemeClr>
              </a:gs>
              <a:gs pos="23000">
                <a:schemeClr val="accent6">
                  <a:lumMod val="89000"/>
                </a:schemeClr>
              </a:gs>
              <a:gs pos="69000">
                <a:schemeClr val="accent6">
                  <a:lumMod val="75000"/>
                </a:schemeClr>
              </a:gs>
              <a:gs pos="97000">
                <a:schemeClr val="accent6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5875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9B678A5-A064-46A6-817F-AE02396CCF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5551" y="4769963"/>
            <a:ext cx="1300898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3" descr="Text&#10;&#10;Description automatically generated">
            <a:extLst>
              <a:ext uri="{FF2B5EF4-FFF2-40B4-BE49-F238E27FC236}">
                <a16:creationId xmlns:a16="http://schemas.microsoft.com/office/drawing/2014/main" id="{8293ADD2-B920-44FB-B113-AB0AE1E32A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9201" y="6291333"/>
            <a:ext cx="2009775" cy="50482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0A4AF7C-8CA4-485D-97F6-F829344B8E21}"/>
              </a:ext>
            </a:extLst>
          </p:cNvPr>
          <p:cNvSpPr/>
          <p:nvPr/>
        </p:nvSpPr>
        <p:spPr>
          <a:xfrm>
            <a:off x="5345373" y="4703928"/>
            <a:ext cx="1455761" cy="159220"/>
          </a:xfrm>
          <a:prstGeom prst="rect">
            <a:avLst/>
          </a:prstGeom>
          <a:solidFill>
            <a:srgbClr val="722D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pic>
        <p:nvPicPr>
          <p:cNvPr id="5" name="Picture 2" descr="Any Questions?">
            <a:extLst>
              <a:ext uri="{FF2B5EF4-FFF2-40B4-BE49-F238E27FC236}">
                <a16:creationId xmlns:a16="http://schemas.microsoft.com/office/drawing/2014/main" id="{0776BBD9-A431-4CF2-AC24-80C386FB5E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071" y="932600"/>
            <a:ext cx="10262082" cy="499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A0662-BBB1-401C-90FB-9F3EC26DA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9138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AB946B"/>
      </a:accent1>
      <a:accent2>
        <a:srgbClr val="C04F32"/>
      </a:accent2>
      <a:accent3>
        <a:srgbClr val="DD8C3C"/>
      </a:accent3>
      <a:accent4>
        <a:srgbClr val="8E684C"/>
      </a:accent4>
      <a:accent5>
        <a:srgbClr val="CBAF62"/>
      </a:accent5>
      <a:accent6>
        <a:srgbClr val="803348"/>
      </a:accent6>
      <a:hlink>
        <a:srgbClr val="86724D"/>
      </a:hlink>
      <a:folHlink>
        <a:srgbClr val="B99E84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A2BEDC8B-F191-493B-BA33-0F4F800A89D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438</TotalTime>
  <Words>1203</Words>
  <Application>Microsoft Office PowerPoint</Application>
  <PresentationFormat>Widescreen</PresentationFormat>
  <Paragraphs>255</Paragraphs>
  <Slides>22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Garamond</vt:lpstr>
      <vt:lpstr>Garamond (Body)</vt:lpstr>
      <vt:lpstr>Garamond (Headings)</vt:lpstr>
      <vt:lpstr>Organic</vt:lpstr>
      <vt:lpstr>POM 610-631: Supply Chain Management I  Walmart Business Case Presentation</vt:lpstr>
      <vt:lpstr>Analysis of Walmart’s Six Supply Chain Drivers</vt:lpstr>
      <vt:lpstr>The Relationship Between Supply Chain Operations and the Six Supply Chain Drivers </vt:lpstr>
      <vt:lpstr>Facilities (Logistical Driver)</vt:lpstr>
      <vt:lpstr>Inventory (Logistical Driver)</vt:lpstr>
      <vt:lpstr>Transportation (Logistical Driver)</vt:lpstr>
      <vt:lpstr>Information (Cross-Functional Driver)</vt:lpstr>
      <vt:lpstr>Sourcing (Cross-Functional Driver)</vt:lpstr>
      <vt:lpstr>Pricing (Cross-Functional Driver)</vt:lpstr>
      <vt:lpstr>Analysis of Walmart’s Financial Performance  Walmart VS. Amazon VS. Target Study</vt:lpstr>
      <vt:lpstr>Supply Chain Metrics: INVT and ART</vt:lpstr>
      <vt:lpstr>Supply Chain Metrics: APT and C2C</vt:lpstr>
      <vt:lpstr>Operating Margin and Net Margin </vt:lpstr>
      <vt:lpstr>Gross Profit Return, Asset Turnover &amp; ROE </vt:lpstr>
      <vt:lpstr>Analysis of Walmart’s Supply Chain Distribution Structures and Challenges Moving Forward</vt:lpstr>
      <vt:lpstr>Distribution Options</vt:lpstr>
      <vt:lpstr>Manufacturer Storage with Direct Shipping</vt:lpstr>
      <vt:lpstr>Distributor Storage with Carrier Delivery</vt:lpstr>
      <vt:lpstr>Manufacturer or Distributor Storage with Customer Pickup</vt:lpstr>
      <vt:lpstr>Challenges Moving Forward</vt:lpstr>
      <vt:lpstr>Strategies Moving Forward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Ndong,Mathieu</cp:lastModifiedBy>
  <cp:revision>88</cp:revision>
  <dcterms:created xsi:type="dcterms:W3CDTF">2020-09-26T19:59:27Z</dcterms:created>
  <dcterms:modified xsi:type="dcterms:W3CDTF">2020-10-13T00:20:44Z</dcterms:modified>
</cp:coreProperties>
</file>